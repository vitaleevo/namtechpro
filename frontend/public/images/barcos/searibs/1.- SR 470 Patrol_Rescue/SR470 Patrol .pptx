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sldIdLst>
    <p:sldId id="256" r:id="rId2"/>
    <p:sldId id="258" r:id="rId3"/>
  </p:sldIdLst>
  <p:sldSz cx="9144000" cy="6858000" type="screen4x3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1pPr>
    <a:lvl2pPr marL="0" marR="0" indent="4572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2pPr>
    <a:lvl3pPr marL="0" marR="0" indent="9144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3pPr>
    <a:lvl4pPr marL="0" marR="0" indent="13716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4pPr>
    <a:lvl5pPr marL="0" marR="0" indent="18288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5pPr>
    <a:lvl6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6pPr>
    <a:lvl7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7pPr>
    <a:lvl8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8pPr>
    <a:lvl9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00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DD4EA"/>
          </a:solidFill>
        </a:fill>
      </a:tcStyle>
    </a:wholeTbl>
    <a:band2H>
      <a:tcTxStyle/>
      <a:tcStyle>
        <a:tcBdr/>
        <a:fill>
          <a:solidFill>
            <a:srgbClr val="E8EBF5"/>
          </a:solidFill>
        </a:fill>
      </a:tcStyle>
    </a:band2H>
    <a:firstCol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EE7D0"/>
          </a:solidFill>
        </a:fill>
      </a:tcStyle>
    </a:wholeTbl>
    <a:band2H>
      <a:tcTxStyle/>
      <a:tcStyle>
        <a:tcBdr/>
        <a:fill>
          <a:solidFill>
            <a:srgbClr val="EFF3E9"/>
          </a:solidFill>
        </a:fill>
      </a:tcStyle>
    </a:band2H>
    <a:firstCol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CDCCE"/>
          </a:solidFill>
        </a:fill>
      </a:tcStyle>
    </a:wholeTbl>
    <a:band2H>
      <a:tcTxStyle/>
      <a:tcStyle>
        <a:tcBdr/>
        <a:fill>
          <a:solidFill>
            <a:srgbClr val="FDEEE8"/>
          </a:solidFill>
        </a:fill>
      </a:tcStyle>
    </a:band2H>
    <a:firstCol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/>
      <a:tcStyle>
        <a:tcBdr/>
        <a:fill>
          <a:solidFill>
            <a:srgbClr val="E6E6E6"/>
          </a:solidFill>
        </a:fill>
      </a:tcStyle>
    </a:band2H>
    <a:firstCol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456"/>
    <p:restoredTop sz="94659"/>
  </p:normalViewPr>
  <p:slideViewPr>
    <p:cSldViewPr snapToGrid="0" snapToObjects="1">
      <p:cViewPr varScale="1">
        <p:scale>
          <a:sx n="106" d="100"/>
          <a:sy n="106" d="100"/>
        </p:scale>
        <p:origin x="130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hape 17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8" name="Shape 18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65827265"/>
      </p:ext>
    </p:extLst>
  </p:cSld>
  <p:clrMap bg1="lt1" tx1="dk1" bg2="lt2" tx2="dk2" accent1="accent1" accent2="accent2" accent3="accent3" accent4="accent4" accent5="accent5" accent6="accent6" hlink="hlink" folHlink="folHlink"/>
  <p:notesStyle>
    <a:lvl1pPr latinLnBrk="0">
      <a:defRPr>
        <a:latin typeface="+mn-lt"/>
        <a:ea typeface="+mn-ea"/>
        <a:cs typeface="+mn-cs"/>
        <a:sym typeface="Helvetica Neue"/>
      </a:defRPr>
    </a:lvl1pPr>
    <a:lvl2pPr indent="228600" latinLnBrk="0">
      <a:defRPr>
        <a:latin typeface="+mn-lt"/>
        <a:ea typeface="+mn-ea"/>
        <a:cs typeface="+mn-cs"/>
        <a:sym typeface="Helvetica Neue"/>
      </a:defRPr>
    </a:lvl2pPr>
    <a:lvl3pPr indent="457200" latinLnBrk="0">
      <a:defRPr>
        <a:latin typeface="+mn-lt"/>
        <a:ea typeface="+mn-ea"/>
        <a:cs typeface="+mn-cs"/>
        <a:sym typeface="Helvetica Neue"/>
      </a:defRPr>
    </a:lvl3pPr>
    <a:lvl4pPr indent="685800" latinLnBrk="0">
      <a:defRPr>
        <a:latin typeface="+mn-lt"/>
        <a:ea typeface="+mn-ea"/>
        <a:cs typeface="+mn-cs"/>
        <a:sym typeface="Helvetica Neue"/>
      </a:defRPr>
    </a:lvl4pPr>
    <a:lvl5pPr indent="914400" latinLnBrk="0">
      <a:defRPr>
        <a:latin typeface="+mn-lt"/>
        <a:ea typeface="+mn-ea"/>
        <a:cs typeface="+mn-cs"/>
        <a:sym typeface="Helvetica Neue"/>
      </a:defRPr>
    </a:lvl5pPr>
    <a:lvl6pPr indent="1143000" latinLnBrk="0">
      <a:defRPr>
        <a:latin typeface="+mn-lt"/>
        <a:ea typeface="+mn-ea"/>
        <a:cs typeface="+mn-cs"/>
        <a:sym typeface="Helvetica Neue"/>
      </a:defRPr>
    </a:lvl6pPr>
    <a:lvl7pPr indent="1371600" latinLnBrk="0">
      <a:defRPr>
        <a:latin typeface="+mn-lt"/>
        <a:ea typeface="+mn-ea"/>
        <a:cs typeface="+mn-cs"/>
        <a:sym typeface="Helvetica Neue"/>
      </a:defRPr>
    </a:lvl7pPr>
    <a:lvl8pPr indent="1600200" latinLnBrk="0">
      <a:defRPr>
        <a:latin typeface="+mn-lt"/>
        <a:ea typeface="+mn-ea"/>
        <a:cs typeface="+mn-cs"/>
        <a:sym typeface="Helvetica Neue"/>
      </a:defRPr>
    </a:lvl8pPr>
    <a:lvl9pPr indent="1828800" latinLnBrk="0">
      <a:defRPr>
        <a:latin typeface="+mn-lt"/>
        <a:ea typeface="+mn-ea"/>
        <a:cs typeface="+mn-cs"/>
        <a:sym typeface="Helvetica Neue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20866623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C00473C-FF68-A426-D7B3-2D0EDCA99D2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2280930-432B-D676-E8AA-6CDCA3CA5D2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64C1AFF4-DC3A-ED81-6CDA-949AE20B9E6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CB4B4D-7CA3-9044-876B-883B54F8677D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05601981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>
            <a:spLocks noGrp="1"/>
          </p:cNvSpPr>
          <p:nvPr>
            <p:ph type="title"/>
          </p:nvPr>
        </p:nvSpPr>
        <p:spPr>
          <a:xfrm>
            <a:off x="457200" y="92074"/>
            <a:ext cx="8229600" cy="1508127"/>
          </a:xfrm>
          <a:prstGeom prst="rect">
            <a:avLst/>
          </a:prstGeom>
          <a:ln w="12700">
            <a:miter lim="400000"/>
          </a:ln>
        </p:spPr>
        <p:txBody>
          <a:bodyPr lIns="45719" rIns="45719" anchor="ctr"/>
          <a:lstStyle/>
          <a:p>
            <a:endParaRPr/>
          </a:p>
        </p:txBody>
      </p:sp>
      <p:sp>
        <p:nvSpPr>
          <p:cNvPr id="3" name="Shape 3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5257800"/>
          </a:xfrm>
          <a:prstGeom prst="rect">
            <a:avLst/>
          </a:prstGeom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4" name="Shape 4"/>
          <p:cNvSpPr>
            <a:spLocks noGrp="1"/>
          </p:cNvSpPr>
          <p:nvPr>
            <p:ph type="sldNum" sz="quarter" idx="2"/>
          </p:nvPr>
        </p:nvSpPr>
        <p:spPr>
          <a:xfrm>
            <a:off x="8256726" y="6414760"/>
            <a:ext cx="258624" cy="248305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 defTabSz="914400">
              <a:defRPr sz="1200">
                <a:solidFill>
                  <a:srgbClr val="898989"/>
                </a:solidFill>
              </a:defRPr>
            </a:lvl1pPr>
          </a:lstStyle>
          <a:p>
            <a:fld id="{86CB4B4D-7CA3-9044-876B-883B54F8677D}" type="slidenum">
              <a:t>‹Nº›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ransition spd="med"/>
  <p:txStyles>
    <p:titleStyle>
      <a:lvl1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1pPr>
      <a:lvl2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2pPr>
      <a:lvl3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3pPr>
      <a:lvl4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4pPr>
      <a:lvl5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5pPr>
      <a:lvl6pPr marL="0" marR="0" indent="45720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6pPr>
      <a:lvl7pPr marL="0" marR="0" indent="91440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7pPr>
      <a:lvl8pPr marL="0" marR="0" indent="137160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8pPr>
      <a:lvl9pPr marL="0" marR="0" indent="182880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9pPr>
    </p:titleStyle>
    <p:bodyStyle>
      <a:lvl1pPr marL="228600" marR="0" indent="-228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ln>
            <a:noFill/>
          </a:ln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1pPr>
      <a:lvl2pPr marL="723900" marR="0" indent="-2667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ln>
            <a:noFill/>
          </a:ln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2pPr>
      <a:lvl3pPr marL="1234439" marR="0" indent="-320039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ln>
            <a:noFill/>
          </a:ln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3pPr>
      <a:lvl4pPr marL="17272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ln>
            <a:noFill/>
          </a:ln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4pPr>
      <a:lvl5pPr marL="21844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ln>
            <a:noFill/>
          </a:ln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5pPr>
      <a:lvl6pPr marL="26416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ln>
            <a:noFill/>
          </a:ln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6pPr>
      <a:lvl7pPr marL="30988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ln>
            <a:noFill/>
          </a:ln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7pPr>
      <a:lvl8pPr marL="35560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ln>
            <a:noFill/>
          </a:ln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8pPr>
      <a:lvl9pPr marL="40132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ln>
            <a:noFill/>
          </a:ln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457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914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1371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18288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jpeg"/><Relationship Id="rId3" Type="http://schemas.openxmlformats.org/officeDocument/2006/relationships/image" Target="../media/image1.emf"/><Relationship Id="rId7" Type="http://schemas.openxmlformats.org/officeDocument/2006/relationships/image" Target="../media/image4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jpeg"/><Relationship Id="rId5" Type="http://schemas.openxmlformats.org/officeDocument/2006/relationships/image" Target="../media/image2.emf"/><Relationship Id="rId10" Type="http://schemas.openxmlformats.org/officeDocument/2006/relationships/image" Target="../media/image7.jpeg"/><Relationship Id="rId4" Type="http://schemas.openxmlformats.org/officeDocument/2006/relationships/hyperlink" Target="mailto:geral@navalportyards.com" TargetMode="External"/><Relationship Id="rId9" Type="http://schemas.openxmlformats.org/officeDocument/2006/relationships/image" Target="../media/image6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mailto:geral@navalportyards.com" TargetMode="External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n 8">
            <a:extLst>
              <a:ext uri="{FF2B5EF4-FFF2-40B4-BE49-F238E27FC236}">
                <a16:creationId xmlns:a16="http://schemas.microsoft.com/office/drawing/2014/main" id="{2C6350B4-20B7-26A8-1315-B1A93EB844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385842"/>
            <a:ext cx="9143999" cy="1448920"/>
          </a:xfrm>
          <a:prstGeom prst="rect">
            <a:avLst/>
          </a:prstGeom>
        </p:spPr>
      </p:pic>
      <p:sp>
        <p:nvSpPr>
          <p:cNvPr id="17" name="CuadroTexto 16">
            <a:extLst>
              <a:ext uri="{FF2B5EF4-FFF2-40B4-BE49-F238E27FC236}">
                <a16:creationId xmlns:a16="http://schemas.microsoft.com/office/drawing/2014/main" id="{C64779D0-6A06-C5AC-F503-F0A65D3A3F9D}"/>
              </a:ext>
            </a:extLst>
          </p:cNvPr>
          <p:cNvSpPr txBox="1"/>
          <p:nvPr/>
        </p:nvSpPr>
        <p:spPr>
          <a:xfrm>
            <a:off x="156411" y="5490124"/>
            <a:ext cx="6027821" cy="127727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s-ES" sz="700" dirty="0">
                <a:solidFill>
                  <a:schemeClr val="bg1"/>
                </a:solidFill>
              </a:rPr>
              <a:t>ESTALEIRO PORTUGAL CENTRO</a:t>
            </a:r>
          </a:p>
          <a:p>
            <a:r>
              <a:rPr lang="es-ES" sz="700" dirty="0">
                <a:solidFill>
                  <a:schemeClr val="bg1"/>
                </a:solidFill>
              </a:rPr>
              <a:t> </a:t>
            </a:r>
            <a:r>
              <a:rPr lang="es-ES" sz="700" dirty="0" err="1">
                <a:solidFill>
                  <a:schemeClr val="bg1"/>
                </a:solidFill>
              </a:rPr>
              <a:t>Almargem</a:t>
            </a:r>
            <a:r>
              <a:rPr lang="es-ES" sz="700" dirty="0">
                <a:solidFill>
                  <a:schemeClr val="bg1"/>
                </a:solidFill>
              </a:rPr>
              <a:t> 205-2590 Sobral de Monte </a:t>
            </a:r>
            <a:r>
              <a:rPr lang="es-ES" sz="700" dirty="0" err="1">
                <a:solidFill>
                  <a:schemeClr val="bg1"/>
                </a:solidFill>
              </a:rPr>
              <a:t>Agraço</a:t>
            </a:r>
            <a:r>
              <a:rPr lang="es-ES" sz="700" dirty="0">
                <a:solidFill>
                  <a:schemeClr val="bg1"/>
                </a:solidFill>
              </a:rPr>
              <a:t> I Tel. +351 261 940 030 Fax +351 261940 038 I Email: </a:t>
            </a:r>
            <a:r>
              <a:rPr lang="es-ES" sz="700" dirty="0">
                <a:solidFill>
                  <a:schemeClr val="bg1"/>
                </a:solidFill>
                <a:hlinkClick r:id="rId4"/>
              </a:rPr>
              <a:t>geral@navalportyards.com</a:t>
            </a:r>
            <a:endParaRPr lang="es-ES" sz="700" dirty="0">
              <a:solidFill>
                <a:schemeClr val="bg1"/>
              </a:solidFill>
            </a:endParaRPr>
          </a:p>
          <a:p>
            <a:endParaRPr lang="es-ES" sz="700" dirty="0">
              <a:solidFill>
                <a:schemeClr val="bg1"/>
              </a:solidFill>
            </a:endParaRPr>
          </a:p>
          <a:p>
            <a:r>
              <a:rPr lang="es-ES" sz="700" dirty="0">
                <a:solidFill>
                  <a:schemeClr val="bg1"/>
                </a:solidFill>
              </a:rPr>
              <a:t>ESTALEIRO PORTUGAL NORTE</a:t>
            </a:r>
          </a:p>
          <a:p>
            <a:r>
              <a:rPr lang="es-ES" sz="700" dirty="0">
                <a:solidFill>
                  <a:schemeClr val="bg1"/>
                </a:solidFill>
              </a:rPr>
              <a:t> Parque Empresarial da Praia Norte 4900-568 Viana do Castelo (Portugal) I Tele.: +351 258 940 600 I Email: </a:t>
            </a:r>
            <a:r>
              <a:rPr lang="es-ES" sz="700" dirty="0" err="1">
                <a:solidFill>
                  <a:schemeClr val="bg1"/>
                </a:solidFill>
              </a:rPr>
              <a:t>comercial@navalportyards.com</a:t>
            </a:r>
            <a:endParaRPr lang="es-ES" sz="700" dirty="0">
              <a:solidFill>
                <a:schemeClr val="bg1"/>
              </a:solidFill>
            </a:endParaRPr>
          </a:p>
          <a:p>
            <a:endParaRPr lang="es-ES" sz="700" dirty="0">
              <a:solidFill>
                <a:schemeClr val="bg1"/>
              </a:solidFill>
            </a:endParaRPr>
          </a:p>
          <a:p>
            <a:r>
              <a:rPr lang="es-ES" sz="700" dirty="0">
                <a:solidFill>
                  <a:schemeClr val="bg1"/>
                </a:solidFill>
              </a:rPr>
              <a:t>ESTALEIRO ESPANHA</a:t>
            </a:r>
          </a:p>
          <a:p>
            <a:r>
              <a:rPr lang="es-ES" sz="700" dirty="0">
                <a:solidFill>
                  <a:schemeClr val="bg1"/>
                </a:solidFill>
              </a:rPr>
              <a:t> EMU – C/ Puerto Rico nº10 Bajo – A Guarda – Pontevedra (España) – Email: </a:t>
            </a:r>
            <a:r>
              <a:rPr lang="es-ES" sz="700" dirty="0" err="1">
                <a:solidFill>
                  <a:schemeClr val="bg1"/>
                </a:solidFill>
              </a:rPr>
              <a:t>comercial@emurbano.com</a:t>
            </a:r>
            <a:endParaRPr lang="es-ES" sz="700" dirty="0">
              <a:solidFill>
                <a:schemeClr val="bg1"/>
              </a:solidFill>
            </a:endParaRPr>
          </a:p>
          <a:p>
            <a:endParaRPr lang="es-ES" sz="700" dirty="0">
              <a:solidFill>
                <a:schemeClr val="bg1"/>
              </a:solidFill>
            </a:endParaRPr>
          </a:p>
          <a:p>
            <a:r>
              <a:rPr lang="es-ES" sz="700" dirty="0">
                <a:solidFill>
                  <a:schemeClr val="bg1"/>
                </a:solidFill>
              </a:rPr>
              <a:t>ESTALEIRO MARROCOS</a:t>
            </a:r>
          </a:p>
          <a:p>
            <a:r>
              <a:rPr lang="es-ES" sz="700" dirty="0">
                <a:solidFill>
                  <a:schemeClr val="bg1"/>
                </a:solidFill>
              </a:rPr>
              <a:t> Alliance </a:t>
            </a:r>
            <a:r>
              <a:rPr lang="es-ES" sz="700" dirty="0" err="1">
                <a:solidFill>
                  <a:schemeClr val="bg1"/>
                </a:solidFill>
              </a:rPr>
              <a:t>Searib´s</a:t>
            </a:r>
            <a:r>
              <a:rPr lang="es-ES" sz="700" dirty="0">
                <a:solidFill>
                  <a:schemeClr val="bg1"/>
                </a:solidFill>
              </a:rPr>
              <a:t> </a:t>
            </a:r>
            <a:r>
              <a:rPr lang="es-ES" sz="700" dirty="0" err="1">
                <a:solidFill>
                  <a:schemeClr val="bg1"/>
                </a:solidFill>
              </a:rPr>
              <a:t>Sarl</a:t>
            </a:r>
            <a:r>
              <a:rPr lang="es-ES" sz="700" dirty="0">
                <a:solidFill>
                  <a:schemeClr val="bg1"/>
                </a:solidFill>
              </a:rPr>
              <a:t> – </a:t>
            </a:r>
            <a:r>
              <a:rPr lang="es-ES" sz="700" dirty="0" err="1">
                <a:solidFill>
                  <a:schemeClr val="bg1"/>
                </a:solidFill>
              </a:rPr>
              <a:t>Zone</a:t>
            </a:r>
            <a:r>
              <a:rPr lang="es-ES" sz="700" dirty="0">
                <a:solidFill>
                  <a:schemeClr val="bg1"/>
                </a:solidFill>
              </a:rPr>
              <a:t> </a:t>
            </a:r>
            <a:r>
              <a:rPr lang="es-ES" sz="700" dirty="0" err="1">
                <a:solidFill>
                  <a:schemeClr val="bg1"/>
                </a:solidFill>
              </a:rPr>
              <a:t>Triangle</a:t>
            </a:r>
            <a:r>
              <a:rPr lang="es-ES" sz="700" dirty="0">
                <a:solidFill>
                  <a:schemeClr val="bg1"/>
                </a:solidFill>
              </a:rPr>
              <a:t> de </a:t>
            </a:r>
            <a:r>
              <a:rPr lang="es-ES" sz="700" dirty="0" err="1">
                <a:solidFill>
                  <a:schemeClr val="bg1"/>
                </a:solidFill>
              </a:rPr>
              <a:t>Pêche</a:t>
            </a:r>
            <a:r>
              <a:rPr lang="es-ES" sz="700" dirty="0">
                <a:solidFill>
                  <a:schemeClr val="bg1"/>
                </a:solidFill>
              </a:rPr>
              <a:t> – Nouveau </a:t>
            </a:r>
            <a:r>
              <a:rPr lang="es-ES" sz="700" dirty="0" err="1">
                <a:solidFill>
                  <a:schemeClr val="bg1"/>
                </a:solidFill>
              </a:rPr>
              <a:t>port</a:t>
            </a:r>
            <a:r>
              <a:rPr lang="es-ES" sz="700" dirty="0">
                <a:solidFill>
                  <a:schemeClr val="bg1"/>
                </a:solidFill>
              </a:rPr>
              <a:t> BP299 – Agadir (</a:t>
            </a:r>
            <a:r>
              <a:rPr lang="es-ES" sz="700" dirty="0" err="1">
                <a:solidFill>
                  <a:schemeClr val="bg1"/>
                </a:solidFill>
              </a:rPr>
              <a:t>Maroc</a:t>
            </a:r>
            <a:r>
              <a:rPr lang="es-ES" sz="700" dirty="0">
                <a:solidFill>
                  <a:schemeClr val="bg1"/>
                </a:solidFill>
              </a:rPr>
              <a:t>) Email: </a:t>
            </a:r>
            <a:r>
              <a:rPr lang="es-ES" sz="700" dirty="0" err="1">
                <a:solidFill>
                  <a:schemeClr val="bg1"/>
                </a:solidFill>
              </a:rPr>
              <a:t>alliance.searibs@seribs.com</a:t>
            </a:r>
            <a:endParaRPr lang="es-ES" sz="700" dirty="0">
              <a:solidFill>
                <a:schemeClr val="bg1"/>
              </a:solidFill>
            </a:endParaRPr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7D7AACE2-6ABE-D6B8-1297-DB9CA7C312B3}"/>
              </a:ext>
            </a:extLst>
          </p:cNvPr>
          <p:cNvSpPr txBox="1"/>
          <p:nvPr/>
        </p:nvSpPr>
        <p:spPr>
          <a:xfrm>
            <a:off x="7928811" y="-97525"/>
            <a:ext cx="1097682" cy="101566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s-ES" sz="6000" b="1" dirty="0">
                <a:solidFill>
                  <a:srgbClr val="C00000"/>
                </a:solidFill>
              </a:rPr>
              <a:t>SR</a:t>
            </a:r>
          </a:p>
        </p:txBody>
      </p:sp>
      <p:sp>
        <p:nvSpPr>
          <p:cNvPr id="28" name="CuadroTexto 27">
            <a:extLst>
              <a:ext uri="{FF2B5EF4-FFF2-40B4-BE49-F238E27FC236}">
                <a16:creationId xmlns:a16="http://schemas.microsoft.com/office/drawing/2014/main" id="{63372490-BDB7-6A20-582F-1957E83C79D8}"/>
              </a:ext>
            </a:extLst>
          </p:cNvPr>
          <p:cNvSpPr txBox="1"/>
          <p:nvPr/>
        </p:nvSpPr>
        <p:spPr>
          <a:xfrm>
            <a:off x="6980663" y="717335"/>
            <a:ext cx="2386364" cy="52322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s-ES" sz="2800" b="1" dirty="0">
                <a:solidFill>
                  <a:schemeClr val="tx1"/>
                </a:solidFill>
              </a:rPr>
              <a:t>470</a:t>
            </a:r>
            <a:r>
              <a:rPr lang="es-ES" sz="2800" b="1" dirty="0">
                <a:solidFill>
                  <a:srgbClr val="C00000"/>
                </a:solidFill>
              </a:rPr>
              <a:t> PATROL</a:t>
            </a:r>
          </a:p>
        </p:txBody>
      </p:sp>
      <p:sp>
        <p:nvSpPr>
          <p:cNvPr id="30" name="CuadroTexto 29">
            <a:extLst>
              <a:ext uri="{FF2B5EF4-FFF2-40B4-BE49-F238E27FC236}">
                <a16:creationId xmlns:a16="http://schemas.microsoft.com/office/drawing/2014/main" id="{A3AB998C-1E30-85FB-7E2D-63755F2A0C65}"/>
              </a:ext>
            </a:extLst>
          </p:cNvPr>
          <p:cNvSpPr txBox="1"/>
          <p:nvPr/>
        </p:nvSpPr>
        <p:spPr>
          <a:xfrm>
            <a:off x="6536101" y="1291947"/>
            <a:ext cx="4503606" cy="27699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s-ES" sz="1200" b="1" dirty="0">
                <a:solidFill>
                  <a:srgbClr val="C00000"/>
                </a:solidFill>
              </a:rPr>
              <a:t>SPÉCIFICATIONS</a:t>
            </a:r>
          </a:p>
        </p:txBody>
      </p:sp>
      <p:sp>
        <p:nvSpPr>
          <p:cNvPr id="32" name="CuadroTexto 31">
            <a:extLst>
              <a:ext uri="{FF2B5EF4-FFF2-40B4-BE49-F238E27FC236}">
                <a16:creationId xmlns:a16="http://schemas.microsoft.com/office/drawing/2014/main" id="{AEFC7AA4-C81A-16DC-250A-11D4F7383990}"/>
              </a:ext>
            </a:extLst>
          </p:cNvPr>
          <p:cNvSpPr txBox="1"/>
          <p:nvPr/>
        </p:nvSpPr>
        <p:spPr>
          <a:xfrm>
            <a:off x="6538830" y="1620338"/>
            <a:ext cx="5519852" cy="317009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pt-PT" sz="1000" b="1" dirty="0"/>
              <a:t>Comprimento 			</a:t>
            </a:r>
            <a:r>
              <a:rPr lang="pt-PT" sz="1000" dirty="0"/>
              <a:t>4,70m</a:t>
            </a:r>
          </a:p>
          <a:p>
            <a:r>
              <a:rPr lang="pt-PT" sz="1000" b="1" dirty="0"/>
              <a:t>Boca				</a:t>
            </a:r>
            <a:r>
              <a:rPr lang="pt-PT" sz="1000" dirty="0"/>
              <a:t>2,12m</a:t>
            </a:r>
          </a:p>
          <a:p>
            <a:r>
              <a:rPr lang="pt-PT" sz="1000" b="1" dirty="0"/>
              <a:t>Diâmetro Flutuador		</a:t>
            </a:r>
            <a:r>
              <a:rPr lang="pt-PT" sz="1000" dirty="0"/>
              <a:t>0,52m</a:t>
            </a:r>
          </a:p>
          <a:p>
            <a:r>
              <a:rPr lang="pt-PT" sz="1000" b="1" dirty="0"/>
              <a:t>Tripulação			</a:t>
            </a:r>
            <a:r>
              <a:rPr lang="pt-PT" sz="1000" dirty="0"/>
              <a:t>2</a:t>
            </a:r>
          </a:p>
          <a:p>
            <a:r>
              <a:rPr lang="pt-PT" sz="1000" b="1" dirty="0"/>
              <a:t>Passageiros			</a:t>
            </a:r>
            <a:r>
              <a:rPr lang="pt-PT" sz="1000" dirty="0"/>
              <a:t>6</a:t>
            </a:r>
          </a:p>
          <a:p>
            <a:r>
              <a:rPr lang="pt-PT" sz="1000" b="1" dirty="0"/>
              <a:t>Carga Máxima			</a:t>
            </a:r>
            <a:r>
              <a:rPr lang="pt-PT" sz="1000" dirty="0"/>
              <a:t>1000kg</a:t>
            </a:r>
          </a:p>
          <a:p>
            <a:r>
              <a:rPr lang="pt-PT" sz="1000" b="1" dirty="0"/>
              <a:t>Potência Máxima		</a:t>
            </a:r>
            <a:r>
              <a:rPr lang="pt-PT" sz="1000" dirty="0"/>
              <a:t>70hp</a:t>
            </a:r>
          </a:p>
          <a:p>
            <a:r>
              <a:rPr lang="pt-PT" sz="1000" b="1" dirty="0"/>
              <a:t>Potência instalada		</a:t>
            </a:r>
            <a:r>
              <a:rPr lang="pt-PT" sz="1000" dirty="0"/>
              <a:t>60hp</a:t>
            </a:r>
          </a:p>
          <a:p>
            <a:r>
              <a:rPr lang="pt-PT" sz="1000" b="1" dirty="0"/>
              <a:t>Velocidade Máxima		</a:t>
            </a:r>
            <a:r>
              <a:rPr lang="pt-PT" sz="1000" dirty="0"/>
              <a:t>&gt;30MN</a:t>
            </a:r>
          </a:p>
          <a:p>
            <a:endParaRPr lang="pt-PT" sz="1000" dirty="0"/>
          </a:p>
          <a:p>
            <a:endParaRPr lang="pt-PT" sz="1000" dirty="0"/>
          </a:p>
          <a:p>
            <a:r>
              <a:rPr lang="pt-PT" sz="1000" b="1" dirty="0">
                <a:solidFill>
                  <a:srgbClr val="C00000"/>
                </a:solidFill>
              </a:rPr>
              <a:t>MATERIALES</a:t>
            </a:r>
          </a:p>
          <a:p>
            <a:endParaRPr lang="es-ES" sz="1000" dirty="0"/>
          </a:p>
          <a:p>
            <a:r>
              <a:rPr lang="es-ES" sz="1000" dirty="0"/>
              <a:t>Composite, resinas e fibras da </a:t>
            </a:r>
            <a:r>
              <a:rPr lang="es-ES" sz="1000" dirty="0" err="1"/>
              <a:t>mais</a:t>
            </a:r>
            <a:r>
              <a:rPr lang="es-ES" sz="1000" dirty="0"/>
              <a:t> alta </a:t>
            </a:r>
          </a:p>
          <a:p>
            <a:r>
              <a:rPr lang="es-ES" sz="1000" dirty="0" err="1"/>
              <a:t>cualidade</a:t>
            </a:r>
            <a:r>
              <a:rPr lang="es-ES" sz="1000" dirty="0"/>
              <a:t> naval, </a:t>
            </a:r>
          </a:p>
          <a:p>
            <a:endParaRPr lang="es-ES" sz="1000" dirty="0"/>
          </a:p>
          <a:p>
            <a:r>
              <a:rPr lang="es-ES" sz="1000" b="1" dirty="0">
                <a:solidFill>
                  <a:srgbClr val="C00000"/>
                </a:solidFill>
              </a:rPr>
              <a:t>FLUTUADORES</a:t>
            </a:r>
          </a:p>
          <a:p>
            <a:endParaRPr lang="es-ES" sz="1000" b="1" dirty="0">
              <a:solidFill>
                <a:srgbClr val="C00000"/>
              </a:solidFill>
            </a:endParaRPr>
          </a:p>
          <a:p>
            <a:r>
              <a:rPr lang="es-ES" sz="1000" dirty="0" err="1">
                <a:solidFill>
                  <a:schemeClr val="tx1"/>
                </a:solidFill>
              </a:rPr>
              <a:t>Flutuador</a:t>
            </a:r>
            <a:r>
              <a:rPr lang="es-ES" sz="1000" dirty="0">
                <a:solidFill>
                  <a:schemeClr val="tx1"/>
                </a:solidFill>
              </a:rPr>
              <a:t> </a:t>
            </a:r>
            <a:r>
              <a:rPr lang="es-ES" sz="1000" dirty="0" err="1">
                <a:solidFill>
                  <a:schemeClr val="tx1"/>
                </a:solidFill>
              </a:rPr>
              <a:t>Hypalon</a:t>
            </a:r>
            <a:r>
              <a:rPr lang="es-ES" sz="1000" dirty="0">
                <a:solidFill>
                  <a:schemeClr val="tx1"/>
                </a:solidFill>
              </a:rPr>
              <a:t>/Neopreno.</a:t>
            </a:r>
          </a:p>
          <a:p>
            <a:endParaRPr lang="es-ES" sz="1000" dirty="0">
              <a:solidFill>
                <a:schemeClr val="tx1"/>
              </a:solidFill>
            </a:endParaRPr>
          </a:p>
        </p:txBody>
      </p:sp>
      <p:pic>
        <p:nvPicPr>
          <p:cNvPr id="37" name="Imagen 36">
            <a:extLst>
              <a:ext uri="{FF2B5EF4-FFF2-40B4-BE49-F238E27FC236}">
                <a16:creationId xmlns:a16="http://schemas.microsoft.com/office/drawing/2014/main" id="{CEC4D271-3666-CF2F-D3C1-063FF99FE2C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10065" y="5869002"/>
            <a:ext cx="1308100" cy="482600"/>
          </a:xfrm>
          <a:prstGeom prst="rect">
            <a:avLst/>
          </a:prstGeom>
        </p:spPr>
      </p:pic>
      <p:pic>
        <p:nvPicPr>
          <p:cNvPr id="2" name="Imagen 2">
            <a:extLst>
              <a:ext uri="{FF2B5EF4-FFF2-40B4-BE49-F238E27FC236}">
                <a16:creationId xmlns:a16="http://schemas.microsoft.com/office/drawing/2014/main" id="{9C08300E-C039-8D60-762D-F02F9A0D17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301" t="18398" r="16629"/>
          <a:stretch>
            <a:fillRect/>
          </a:stretch>
        </p:blipFill>
        <p:spPr bwMode="auto">
          <a:xfrm>
            <a:off x="-3175" y="0"/>
            <a:ext cx="6338888" cy="3756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Imagen 4">
            <a:extLst>
              <a:ext uri="{FF2B5EF4-FFF2-40B4-BE49-F238E27FC236}">
                <a16:creationId xmlns:a16="http://schemas.microsoft.com/office/drawing/2014/main" id="{21831361-1B5E-0EDC-F345-7401F17CE1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334" t="11143" r="5115" b="17503"/>
          <a:stretch>
            <a:fillRect/>
          </a:stretch>
        </p:blipFill>
        <p:spPr bwMode="auto">
          <a:xfrm>
            <a:off x="0" y="3819525"/>
            <a:ext cx="1558925" cy="1166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Imagen 6">
            <a:extLst>
              <a:ext uri="{FF2B5EF4-FFF2-40B4-BE49-F238E27FC236}">
                <a16:creationId xmlns:a16="http://schemas.microsoft.com/office/drawing/2014/main" id="{D8B1E5D9-5F75-91ED-C279-EFA2CB03C5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0774"/>
          <a:stretch>
            <a:fillRect/>
          </a:stretch>
        </p:blipFill>
        <p:spPr bwMode="auto">
          <a:xfrm>
            <a:off x="1625600" y="3821113"/>
            <a:ext cx="1558925" cy="1165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Imagen 8">
            <a:extLst>
              <a:ext uri="{FF2B5EF4-FFF2-40B4-BE49-F238E27FC236}">
                <a16:creationId xmlns:a16="http://schemas.microsoft.com/office/drawing/2014/main" id="{86237A83-E2CD-B853-F1C3-15D1372B5BE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815" t="28880" r="40480" b="25700"/>
          <a:stretch>
            <a:fillRect/>
          </a:stretch>
        </p:blipFill>
        <p:spPr bwMode="auto">
          <a:xfrm>
            <a:off x="3251200" y="3819525"/>
            <a:ext cx="1255713" cy="1165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0236A4F2-26DA-3AE4-C22E-727436128D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109" t="26463" r="32739" b="22144"/>
          <a:stretch>
            <a:fillRect/>
          </a:stretch>
        </p:blipFill>
        <p:spPr bwMode="auto">
          <a:xfrm>
            <a:off x="4572000" y="3819525"/>
            <a:ext cx="1760538" cy="1165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856227997"/>
      </p:ext>
    </p:extLst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A02F742F-1B82-2B92-AB89-F54DF1D04F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385842"/>
            <a:ext cx="9143999" cy="1448920"/>
          </a:xfrm>
          <a:prstGeom prst="rect">
            <a:avLst/>
          </a:prstGeom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812EEF13-D632-296E-CF01-FAA65197C222}"/>
              </a:ext>
            </a:extLst>
          </p:cNvPr>
          <p:cNvSpPr txBox="1"/>
          <p:nvPr/>
        </p:nvSpPr>
        <p:spPr>
          <a:xfrm>
            <a:off x="156411" y="5490124"/>
            <a:ext cx="6027821" cy="127727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s-ES" sz="700" dirty="0">
                <a:solidFill>
                  <a:schemeClr val="bg1"/>
                </a:solidFill>
              </a:rPr>
              <a:t>ESTALEIRO PORTUGAL CENTRO</a:t>
            </a:r>
          </a:p>
          <a:p>
            <a:r>
              <a:rPr lang="es-ES" sz="700" dirty="0">
                <a:solidFill>
                  <a:schemeClr val="bg1"/>
                </a:solidFill>
              </a:rPr>
              <a:t> </a:t>
            </a:r>
            <a:r>
              <a:rPr lang="es-ES" sz="700" dirty="0" err="1">
                <a:solidFill>
                  <a:schemeClr val="bg1"/>
                </a:solidFill>
              </a:rPr>
              <a:t>Almargem</a:t>
            </a:r>
            <a:r>
              <a:rPr lang="es-ES" sz="700" dirty="0">
                <a:solidFill>
                  <a:schemeClr val="bg1"/>
                </a:solidFill>
              </a:rPr>
              <a:t> 205-2590 Sobral de Monte </a:t>
            </a:r>
            <a:r>
              <a:rPr lang="es-ES" sz="700" dirty="0" err="1">
                <a:solidFill>
                  <a:schemeClr val="bg1"/>
                </a:solidFill>
              </a:rPr>
              <a:t>Agraço</a:t>
            </a:r>
            <a:r>
              <a:rPr lang="es-ES" sz="700" dirty="0">
                <a:solidFill>
                  <a:schemeClr val="bg1"/>
                </a:solidFill>
              </a:rPr>
              <a:t> I Tel. +351 261 940 030 Fax +351 261940 038 I Email: </a:t>
            </a:r>
            <a:r>
              <a:rPr lang="es-ES" sz="700" dirty="0">
                <a:solidFill>
                  <a:schemeClr val="bg1"/>
                </a:solidFill>
                <a:hlinkClick r:id="rId3"/>
              </a:rPr>
              <a:t>geral@navalportyards.com</a:t>
            </a:r>
            <a:endParaRPr lang="es-ES" sz="700" dirty="0">
              <a:solidFill>
                <a:schemeClr val="bg1"/>
              </a:solidFill>
            </a:endParaRPr>
          </a:p>
          <a:p>
            <a:endParaRPr lang="es-ES" sz="700" dirty="0">
              <a:solidFill>
                <a:schemeClr val="bg1"/>
              </a:solidFill>
            </a:endParaRPr>
          </a:p>
          <a:p>
            <a:r>
              <a:rPr lang="es-ES" sz="700" dirty="0">
                <a:solidFill>
                  <a:schemeClr val="bg1"/>
                </a:solidFill>
              </a:rPr>
              <a:t>ESTALEIRO PORTUGAL NORTE</a:t>
            </a:r>
          </a:p>
          <a:p>
            <a:r>
              <a:rPr lang="es-ES" sz="700" dirty="0">
                <a:solidFill>
                  <a:schemeClr val="bg1"/>
                </a:solidFill>
              </a:rPr>
              <a:t> Parque Empresarial da Praia Norte 4900-568 Viana do Castelo (Portugal) I Tele.: +351 258 940 600 I Email: </a:t>
            </a:r>
            <a:r>
              <a:rPr lang="es-ES" sz="700" dirty="0" err="1">
                <a:solidFill>
                  <a:schemeClr val="bg1"/>
                </a:solidFill>
              </a:rPr>
              <a:t>comercial@navalportyards.com</a:t>
            </a:r>
            <a:endParaRPr lang="es-ES" sz="700" dirty="0">
              <a:solidFill>
                <a:schemeClr val="bg1"/>
              </a:solidFill>
            </a:endParaRPr>
          </a:p>
          <a:p>
            <a:endParaRPr lang="es-ES" sz="700" dirty="0">
              <a:solidFill>
                <a:schemeClr val="bg1"/>
              </a:solidFill>
            </a:endParaRPr>
          </a:p>
          <a:p>
            <a:r>
              <a:rPr lang="es-ES" sz="700" dirty="0">
                <a:solidFill>
                  <a:schemeClr val="bg1"/>
                </a:solidFill>
              </a:rPr>
              <a:t>ESTALEIRO ESPANHA</a:t>
            </a:r>
          </a:p>
          <a:p>
            <a:r>
              <a:rPr lang="es-ES" sz="700" dirty="0">
                <a:solidFill>
                  <a:schemeClr val="bg1"/>
                </a:solidFill>
              </a:rPr>
              <a:t> EMU – C/ Puerto Rico nº10 Bajo – A Guarda – Pontevedra (España) – Email: </a:t>
            </a:r>
            <a:r>
              <a:rPr lang="es-ES" sz="700" dirty="0" err="1">
                <a:solidFill>
                  <a:schemeClr val="bg1"/>
                </a:solidFill>
              </a:rPr>
              <a:t>comercial@emurbano.com</a:t>
            </a:r>
            <a:endParaRPr lang="es-ES" sz="700" dirty="0">
              <a:solidFill>
                <a:schemeClr val="bg1"/>
              </a:solidFill>
            </a:endParaRPr>
          </a:p>
          <a:p>
            <a:endParaRPr lang="es-ES" sz="700" dirty="0">
              <a:solidFill>
                <a:schemeClr val="bg1"/>
              </a:solidFill>
            </a:endParaRPr>
          </a:p>
          <a:p>
            <a:r>
              <a:rPr lang="es-ES" sz="700" dirty="0">
                <a:solidFill>
                  <a:schemeClr val="bg1"/>
                </a:solidFill>
              </a:rPr>
              <a:t>ESTALEIRO MARROCOS</a:t>
            </a:r>
          </a:p>
          <a:p>
            <a:r>
              <a:rPr lang="es-ES" sz="700" dirty="0">
                <a:solidFill>
                  <a:schemeClr val="bg1"/>
                </a:solidFill>
              </a:rPr>
              <a:t> Alliance </a:t>
            </a:r>
            <a:r>
              <a:rPr lang="es-ES" sz="700" dirty="0" err="1">
                <a:solidFill>
                  <a:schemeClr val="bg1"/>
                </a:solidFill>
              </a:rPr>
              <a:t>Searib´s</a:t>
            </a:r>
            <a:r>
              <a:rPr lang="es-ES" sz="700" dirty="0">
                <a:solidFill>
                  <a:schemeClr val="bg1"/>
                </a:solidFill>
              </a:rPr>
              <a:t> </a:t>
            </a:r>
            <a:r>
              <a:rPr lang="es-ES" sz="700" dirty="0" err="1">
                <a:solidFill>
                  <a:schemeClr val="bg1"/>
                </a:solidFill>
              </a:rPr>
              <a:t>Sarl</a:t>
            </a:r>
            <a:r>
              <a:rPr lang="es-ES" sz="700" dirty="0">
                <a:solidFill>
                  <a:schemeClr val="bg1"/>
                </a:solidFill>
              </a:rPr>
              <a:t> – </a:t>
            </a:r>
            <a:r>
              <a:rPr lang="es-ES" sz="700" dirty="0" err="1">
                <a:solidFill>
                  <a:schemeClr val="bg1"/>
                </a:solidFill>
              </a:rPr>
              <a:t>Zone</a:t>
            </a:r>
            <a:r>
              <a:rPr lang="es-ES" sz="700" dirty="0">
                <a:solidFill>
                  <a:schemeClr val="bg1"/>
                </a:solidFill>
              </a:rPr>
              <a:t> </a:t>
            </a:r>
            <a:r>
              <a:rPr lang="es-ES" sz="700" dirty="0" err="1">
                <a:solidFill>
                  <a:schemeClr val="bg1"/>
                </a:solidFill>
              </a:rPr>
              <a:t>Triangle</a:t>
            </a:r>
            <a:r>
              <a:rPr lang="es-ES" sz="700" dirty="0">
                <a:solidFill>
                  <a:schemeClr val="bg1"/>
                </a:solidFill>
              </a:rPr>
              <a:t> de </a:t>
            </a:r>
            <a:r>
              <a:rPr lang="es-ES" sz="700" dirty="0" err="1">
                <a:solidFill>
                  <a:schemeClr val="bg1"/>
                </a:solidFill>
              </a:rPr>
              <a:t>Pêche</a:t>
            </a:r>
            <a:r>
              <a:rPr lang="es-ES" sz="700" dirty="0">
                <a:solidFill>
                  <a:schemeClr val="bg1"/>
                </a:solidFill>
              </a:rPr>
              <a:t> – Nouveau </a:t>
            </a:r>
            <a:r>
              <a:rPr lang="es-ES" sz="700" dirty="0" err="1">
                <a:solidFill>
                  <a:schemeClr val="bg1"/>
                </a:solidFill>
              </a:rPr>
              <a:t>port</a:t>
            </a:r>
            <a:r>
              <a:rPr lang="es-ES" sz="700" dirty="0">
                <a:solidFill>
                  <a:schemeClr val="bg1"/>
                </a:solidFill>
              </a:rPr>
              <a:t> BP299 – Agadir (</a:t>
            </a:r>
            <a:r>
              <a:rPr lang="es-ES" sz="700" dirty="0" err="1">
                <a:solidFill>
                  <a:schemeClr val="bg1"/>
                </a:solidFill>
              </a:rPr>
              <a:t>Maroc</a:t>
            </a:r>
            <a:r>
              <a:rPr lang="es-ES" sz="700" dirty="0">
                <a:solidFill>
                  <a:schemeClr val="bg1"/>
                </a:solidFill>
              </a:rPr>
              <a:t>) Email: </a:t>
            </a:r>
            <a:r>
              <a:rPr lang="es-ES" sz="700" dirty="0" err="1">
                <a:solidFill>
                  <a:schemeClr val="bg1"/>
                </a:solidFill>
              </a:rPr>
              <a:t>alliance.searibs@seribs.com</a:t>
            </a:r>
            <a:endParaRPr lang="es-ES" sz="700" dirty="0">
              <a:solidFill>
                <a:schemeClr val="bg1"/>
              </a:solidFill>
            </a:endParaRP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4F66B6E1-32EB-F355-08E3-0AD1267301B0}"/>
              </a:ext>
            </a:extLst>
          </p:cNvPr>
          <p:cNvSpPr txBox="1"/>
          <p:nvPr/>
        </p:nvSpPr>
        <p:spPr>
          <a:xfrm>
            <a:off x="156411" y="23238"/>
            <a:ext cx="1097682" cy="101566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s-ES" sz="6000" b="1" dirty="0">
                <a:solidFill>
                  <a:srgbClr val="C00000"/>
                </a:solidFill>
              </a:rPr>
              <a:t>SR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DF93A638-33DE-A273-B592-F7229C302C3A}"/>
              </a:ext>
            </a:extLst>
          </p:cNvPr>
          <p:cNvSpPr txBox="1"/>
          <p:nvPr/>
        </p:nvSpPr>
        <p:spPr>
          <a:xfrm>
            <a:off x="1254093" y="392049"/>
            <a:ext cx="2386364" cy="52322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s-ES" sz="2800" b="1" dirty="0">
                <a:solidFill>
                  <a:schemeClr val="tx1"/>
                </a:solidFill>
              </a:rPr>
              <a:t>470</a:t>
            </a:r>
            <a:r>
              <a:rPr lang="es-ES" sz="2800" b="1" dirty="0">
                <a:solidFill>
                  <a:srgbClr val="C00000"/>
                </a:solidFill>
              </a:rPr>
              <a:t> PATROL</a:t>
            </a:r>
          </a:p>
        </p:txBody>
      </p:sp>
      <p:pic>
        <p:nvPicPr>
          <p:cNvPr id="15" name="Imagen 14">
            <a:extLst>
              <a:ext uri="{FF2B5EF4-FFF2-40B4-BE49-F238E27FC236}">
                <a16:creationId xmlns:a16="http://schemas.microsoft.com/office/drawing/2014/main" id="{690AB8EC-111B-D8A9-243D-E6276FBCAF5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73384" y="4715417"/>
            <a:ext cx="1308100" cy="482600"/>
          </a:xfrm>
          <a:prstGeom prst="rect">
            <a:avLst/>
          </a:prstGeom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970F2D00-1111-3CDD-C824-C1FC3C73131D}"/>
              </a:ext>
            </a:extLst>
          </p:cNvPr>
          <p:cNvSpPr txBox="1"/>
          <p:nvPr/>
        </p:nvSpPr>
        <p:spPr>
          <a:xfrm>
            <a:off x="156411" y="1038380"/>
            <a:ext cx="4677936" cy="64633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s-ES" sz="1800" b="1" dirty="0">
                <a:solidFill>
                  <a:srgbClr val="C00000"/>
                </a:solidFill>
              </a:rPr>
              <a:t>EQUIPAMENTOS INCLUIDOS</a:t>
            </a:r>
          </a:p>
          <a:p>
            <a:endParaRPr lang="es-ES" dirty="0"/>
          </a:p>
        </p:txBody>
      </p:sp>
      <p:sp>
        <p:nvSpPr>
          <p:cNvPr id="16" name="Rectângulo 5">
            <a:extLst>
              <a:ext uri="{FF2B5EF4-FFF2-40B4-BE49-F238E27FC236}">
                <a16:creationId xmlns:a16="http://schemas.microsoft.com/office/drawing/2014/main" id="{BAEC40DD-0F7E-F46E-9224-7FA1DC986775}"/>
              </a:ext>
            </a:extLst>
          </p:cNvPr>
          <p:cNvSpPr/>
          <p:nvPr/>
        </p:nvSpPr>
        <p:spPr>
          <a:xfrm>
            <a:off x="234321" y="1407712"/>
            <a:ext cx="8675355" cy="3164484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numCol="2" rtlCol="0" anchor="t" anchorCtr="0"/>
          <a:lstStyle/>
          <a:p>
            <a:r>
              <a:rPr lang="pt-PT" sz="1000" dirty="0"/>
              <a:t>1x SR470 </a:t>
            </a:r>
            <a:r>
              <a:rPr lang="pt-PT" sz="1000" dirty="0" err="1"/>
              <a:t>Patrol</a:t>
            </a:r>
            <a:endParaRPr lang="pt-PT" sz="1000" dirty="0"/>
          </a:p>
          <a:p>
            <a:r>
              <a:rPr lang="pt-PT" sz="1000" dirty="0"/>
              <a:t>1x Consola 470</a:t>
            </a:r>
          </a:p>
          <a:p>
            <a:r>
              <a:rPr lang="pt-PT" sz="1000" dirty="0"/>
              <a:t>1x Depósitos de combustível 60L</a:t>
            </a:r>
          </a:p>
          <a:p>
            <a:r>
              <a:rPr lang="pt-PT" sz="1000" dirty="0"/>
              <a:t>1x </a:t>
            </a:r>
            <a:r>
              <a:rPr lang="pt-PT" sz="1000" dirty="0" err="1"/>
              <a:t>Roll</a:t>
            </a:r>
            <a:r>
              <a:rPr lang="pt-PT" sz="1000" dirty="0"/>
              <a:t>-Bar + suporte de  antenas luzes de navegação e outros</a:t>
            </a:r>
          </a:p>
          <a:p>
            <a:r>
              <a:rPr lang="pt-PT" sz="1000" dirty="0"/>
              <a:t>1x Flutuador em  </a:t>
            </a:r>
            <a:r>
              <a:rPr lang="pt-PT" sz="1000" dirty="0" err="1"/>
              <a:t>Hypalon</a:t>
            </a:r>
            <a:r>
              <a:rPr lang="pt-PT" sz="1000" dirty="0"/>
              <a:t>/neopreno</a:t>
            </a:r>
          </a:p>
          <a:p>
            <a:r>
              <a:rPr lang="pt-PT" sz="1000" dirty="0"/>
              <a:t>2x Bancos jockey</a:t>
            </a:r>
          </a:p>
          <a:p>
            <a:r>
              <a:rPr lang="pt-PT" sz="1000" dirty="0"/>
              <a:t>1x Bita de proa</a:t>
            </a:r>
          </a:p>
          <a:p>
            <a:r>
              <a:rPr lang="pt-PT" sz="1000" dirty="0"/>
              <a:t>1x Loca de proa para arrumo de cabos e outros</a:t>
            </a:r>
          </a:p>
          <a:p>
            <a:r>
              <a:rPr lang="pt-PT" sz="1000" dirty="0"/>
              <a:t>1x Proteção lateral nos flutuadores</a:t>
            </a:r>
          </a:p>
          <a:p>
            <a:r>
              <a:rPr lang="pt-PT" sz="1000" dirty="0"/>
              <a:t>4x Pontos de suspensão </a:t>
            </a:r>
          </a:p>
          <a:p>
            <a:r>
              <a:rPr lang="pt-PT" sz="1000" dirty="0"/>
              <a:t>1x Palamenta completa</a:t>
            </a:r>
          </a:p>
          <a:p>
            <a:r>
              <a:rPr lang="pt-PT" sz="1000" dirty="0"/>
              <a:t>1x Projetor de busca manual</a:t>
            </a:r>
          </a:p>
          <a:p>
            <a:r>
              <a:rPr lang="pt-PT" sz="1000" dirty="0"/>
              <a:t>1x </a:t>
            </a:r>
            <a:r>
              <a:rPr lang="pt-PT" sz="1000" dirty="0" err="1"/>
              <a:t>Multifuncions</a:t>
            </a:r>
            <a:r>
              <a:rPr lang="pt-PT" sz="1000" dirty="0"/>
              <a:t> </a:t>
            </a:r>
            <a:r>
              <a:rPr lang="pt-PT" sz="1000" dirty="0" err="1"/>
              <a:t>Raymarine</a:t>
            </a:r>
            <a:r>
              <a:rPr lang="pt-PT" sz="1000" dirty="0"/>
              <a:t> 7” (ou similar)</a:t>
            </a:r>
          </a:p>
          <a:p>
            <a:r>
              <a:rPr lang="pt-PT" sz="1000" dirty="0"/>
              <a:t>1x bussola Ritchie (ou similar)</a:t>
            </a:r>
          </a:p>
          <a:p>
            <a:endParaRPr lang="pt-PT" sz="1000" dirty="0"/>
          </a:p>
          <a:p>
            <a:endParaRPr lang="pt-PT" sz="1000" dirty="0"/>
          </a:p>
          <a:p>
            <a:endParaRPr lang="pt-PT" sz="1000" dirty="0"/>
          </a:p>
          <a:p>
            <a:endParaRPr lang="pt-PT" sz="1000" dirty="0"/>
          </a:p>
          <a:p>
            <a:endParaRPr lang="pt-PT" sz="1000" dirty="0"/>
          </a:p>
          <a:p>
            <a:endParaRPr lang="pt-PT" sz="1000" dirty="0"/>
          </a:p>
          <a:p>
            <a:endParaRPr lang="pt-PT" sz="1000" dirty="0"/>
          </a:p>
          <a:p>
            <a:endParaRPr lang="pt-PT" sz="1000" dirty="0"/>
          </a:p>
          <a:p>
            <a:endParaRPr lang="pt-PT" sz="1000" dirty="0"/>
          </a:p>
          <a:p>
            <a:endParaRPr lang="pt-PT" sz="1000" dirty="0"/>
          </a:p>
          <a:p>
            <a:r>
              <a:rPr lang="pt-PT" sz="1000" dirty="0"/>
              <a:t>1x </a:t>
            </a:r>
            <a:r>
              <a:rPr lang="pt-PT" sz="1000" dirty="0" err="1"/>
              <a:t>Gps</a:t>
            </a:r>
            <a:r>
              <a:rPr lang="pt-PT" sz="1000" dirty="0"/>
              <a:t>/</a:t>
            </a:r>
            <a:r>
              <a:rPr lang="pt-PT" sz="1000" dirty="0" err="1"/>
              <a:t>Plotter</a:t>
            </a:r>
            <a:r>
              <a:rPr lang="pt-PT" sz="1000" dirty="0"/>
              <a:t>/Sonda</a:t>
            </a:r>
          </a:p>
          <a:p>
            <a:r>
              <a:rPr lang="pt-PT" sz="1000" dirty="0"/>
              <a:t>1x VHF</a:t>
            </a:r>
          </a:p>
          <a:p>
            <a:r>
              <a:rPr lang="pt-PT" sz="1000" dirty="0"/>
              <a:t>1x Comutador de baterias + </a:t>
            </a:r>
            <a:r>
              <a:rPr lang="pt-PT" sz="1000" dirty="0" err="1"/>
              <a:t>Corta-corrente</a:t>
            </a:r>
            <a:endParaRPr lang="pt-PT" sz="1000" dirty="0"/>
          </a:p>
          <a:p>
            <a:r>
              <a:rPr lang="pt-PT" sz="1000" dirty="0"/>
              <a:t>1x Sistema de luzes de policia e sirena com autofalante</a:t>
            </a:r>
          </a:p>
          <a:p>
            <a:r>
              <a:rPr lang="pt-PT" sz="1000" dirty="0"/>
              <a:t>2x Batereis</a:t>
            </a:r>
          </a:p>
          <a:p>
            <a:r>
              <a:rPr lang="pt-PT" sz="1000" dirty="0"/>
              <a:t>1x Motores SUZUKI 60HP (ou similar)</a:t>
            </a:r>
          </a:p>
          <a:p>
            <a:r>
              <a:rPr lang="pt-PT" sz="1000" dirty="0"/>
              <a:t>1x kit de direção reforçada</a:t>
            </a:r>
          </a:p>
          <a:p>
            <a:r>
              <a:rPr lang="pt-PT" sz="1000" dirty="0"/>
              <a:t>1x Filtro de combustível separador de agua</a:t>
            </a:r>
          </a:p>
          <a:p>
            <a:r>
              <a:rPr lang="pt-PT" sz="1000" dirty="0"/>
              <a:t>1x Bomba de esgoto automática</a:t>
            </a:r>
          </a:p>
          <a:p>
            <a:r>
              <a:rPr lang="pt-PT" sz="1000" dirty="0"/>
              <a:t>1x Atrelado adequado a embarcação		</a:t>
            </a:r>
          </a:p>
          <a:p>
            <a:endParaRPr lang="pt-PT" sz="1100" dirty="0"/>
          </a:p>
          <a:p>
            <a:r>
              <a:rPr lang="pt-PT" sz="1100" dirty="0"/>
              <a:t>						</a:t>
            </a:r>
          </a:p>
          <a:p>
            <a:endParaRPr lang="pt-PT" sz="1100" dirty="0"/>
          </a:p>
          <a:p>
            <a:endParaRPr lang="pt-PT" sz="1100" dirty="0"/>
          </a:p>
          <a:p>
            <a:endParaRPr lang="pt-PT" sz="1100" dirty="0"/>
          </a:p>
          <a:p>
            <a:r>
              <a:rPr lang="pt-PT" sz="1100" dirty="0"/>
              <a:t>			</a:t>
            </a:r>
          </a:p>
          <a:p>
            <a:r>
              <a:rPr lang="pt-PT" sz="1100" dirty="0"/>
              <a:t>			</a:t>
            </a:r>
            <a:r>
              <a:rPr lang="pt-PT" sz="1200" dirty="0"/>
              <a:t>	</a:t>
            </a:r>
          </a:p>
          <a:p>
            <a:endParaRPr lang="pt-PT" sz="1200" dirty="0"/>
          </a:p>
          <a:p>
            <a:endParaRPr lang="pt-PT" sz="1200" dirty="0"/>
          </a:p>
        </p:txBody>
      </p:sp>
    </p:spTree>
    <p:extLst>
      <p:ext uri="{BB962C8B-B14F-4D97-AF65-F5344CB8AC3E}">
        <p14:creationId xmlns:p14="http://schemas.microsoft.com/office/powerpoint/2010/main" val="2066407257"/>
      </p:ext>
    </p:extLst>
  </p:cSld>
  <p:clrMapOvr>
    <a:masterClrMapping/>
  </p:clrMapOvr>
  <p:transition spd="med"/>
</p:sld>
</file>

<file path=ppt/theme/theme1.xml><?xml version="1.0" encoding="utf-8"?>
<a:theme xmlns:a="http://schemas.openxmlformats.org/drawingml/2006/main" name="Tema do Office">
  <a:themeElements>
    <a:clrScheme name="Tema do Offic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Tema do Office">
      <a:majorFont>
        <a:latin typeface="Helvetica"/>
        <a:ea typeface="Helvetica"/>
        <a:cs typeface="Helvetica"/>
      </a:majorFont>
      <a:minorFont>
        <a:latin typeface="Helvetica Neue"/>
        <a:ea typeface="Helvetica Neue"/>
        <a:cs typeface="Helvetica Neue"/>
      </a:minorFont>
    </a:fontScheme>
    <a:fmtScheme name="Tema do 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38100" dist="20000" dir="5400000" rotWithShape="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Calibri"/>
            <a:ea typeface="Calibri"/>
            <a:cs typeface="Calibri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blurRad="38100" dist="20000" dir="5400000" rotWithShape="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Calibri"/>
            <a:ea typeface="Calibri"/>
            <a:cs typeface="Calibri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Tema do Office">
  <a:themeElements>
    <a:clrScheme name="Tema do Offic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Tema do Office">
      <a:majorFont>
        <a:latin typeface="Helvetica"/>
        <a:ea typeface="Helvetica"/>
        <a:cs typeface="Helvetica"/>
      </a:majorFont>
      <a:minorFont>
        <a:latin typeface="Helvetica Neue"/>
        <a:ea typeface="Helvetica Neue"/>
        <a:cs typeface="Helvetica Neue"/>
      </a:minorFont>
    </a:fontScheme>
    <a:fmtScheme name="Tema do 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38100" dist="20000" dir="5400000" rotWithShape="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Calibri"/>
            <a:ea typeface="Calibri"/>
            <a:cs typeface="Calibri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blurRad="38100" dist="20000" dir="5400000" rotWithShape="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Calibri"/>
            <a:ea typeface="Calibri"/>
            <a:cs typeface="Calibri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605</TotalTime>
  <Words>466</Words>
  <Application>Microsoft Macintosh PowerPoint</Application>
  <PresentationFormat>Presentación en pantalla (4:3)</PresentationFormat>
  <Paragraphs>88</Paragraphs>
  <Slides>2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</vt:i4>
      </vt:variant>
    </vt:vector>
  </HeadingPairs>
  <TitlesOfParts>
    <vt:vector size="7" baseType="lpstr">
      <vt:lpstr>Arial</vt:lpstr>
      <vt:lpstr>Calibri</vt:lpstr>
      <vt:lpstr>Calibri Light</vt:lpstr>
      <vt:lpstr>Helvetica Neue</vt:lpstr>
      <vt:lpstr>Tema do Office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Mafalda</dc:creator>
  <cp:lastModifiedBy>Microsoft Office User</cp:lastModifiedBy>
  <cp:revision>21</cp:revision>
  <cp:lastPrinted>2026-04-03T20:08:59Z</cp:lastPrinted>
  <dcterms:modified xsi:type="dcterms:W3CDTF">2026-04-03T21:00:20Z</dcterms:modified>
</cp:coreProperties>
</file>