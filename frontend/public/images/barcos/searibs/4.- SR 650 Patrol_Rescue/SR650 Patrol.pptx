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50"/>
    <p:restoredTop sz="94659"/>
  </p:normalViewPr>
  <p:slideViewPr>
    <p:cSldViewPr snapToGrid="0" snapToObjects="1">
      <p:cViewPr varScale="1">
        <p:scale>
          <a:sx n="106" d="100"/>
          <a:sy n="106" d="100"/>
        </p:scale>
        <p:origin x="13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5827265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>
        <a:latin typeface="+mn-lt"/>
        <a:ea typeface="+mn-ea"/>
        <a:cs typeface="+mn-cs"/>
        <a:sym typeface="Helvetica Neue"/>
      </a:defRPr>
    </a:lvl1pPr>
    <a:lvl2pPr indent="228600" latinLnBrk="0">
      <a:defRPr>
        <a:latin typeface="+mn-lt"/>
        <a:ea typeface="+mn-ea"/>
        <a:cs typeface="+mn-cs"/>
        <a:sym typeface="Helvetica Neue"/>
      </a:defRPr>
    </a:lvl2pPr>
    <a:lvl3pPr indent="457200" latinLnBrk="0">
      <a:defRPr>
        <a:latin typeface="+mn-lt"/>
        <a:ea typeface="+mn-ea"/>
        <a:cs typeface="+mn-cs"/>
        <a:sym typeface="Helvetica Neue"/>
      </a:defRPr>
    </a:lvl3pPr>
    <a:lvl4pPr indent="685800" latinLnBrk="0">
      <a:defRPr>
        <a:latin typeface="+mn-lt"/>
        <a:ea typeface="+mn-ea"/>
        <a:cs typeface="+mn-cs"/>
        <a:sym typeface="Helvetica Neue"/>
      </a:defRPr>
    </a:lvl4pPr>
    <a:lvl5pPr indent="914400" latinLnBrk="0">
      <a:defRPr>
        <a:latin typeface="+mn-lt"/>
        <a:ea typeface="+mn-ea"/>
        <a:cs typeface="+mn-cs"/>
        <a:sym typeface="Helvetica Neue"/>
      </a:defRPr>
    </a:lvl5pPr>
    <a:lvl6pPr indent="1143000" latinLnBrk="0">
      <a:defRPr>
        <a:latin typeface="+mn-lt"/>
        <a:ea typeface="+mn-ea"/>
        <a:cs typeface="+mn-cs"/>
        <a:sym typeface="Helvetica Neue"/>
      </a:defRPr>
    </a:lvl6pPr>
    <a:lvl7pPr indent="1371600" latinLnBrk="0">
      <a:defRPr>
        <a:latin typeface="+mn-lt"/>
        <a:ea typeface="+mn-ea"/>
        <a:cs typeface="+mn-cs"/>
        <a:sym typeface="Helvetica Neue"/>
      </a:defRPr>
    </a:lvl7pPr>
    <a:lvl8pPr indent="1600200" latinLnBrk="0">
      <a:defRPr>
        <a:latin typeface="+mn-lt"/>
        <a:ea typeface="+mn-ea"/>
        <a:cs typeface="+mn-cs"/>
        <a:sym typeface="Helvetica Neue"/>
      </a:defRPr>
    </a:lvl8pPr>
    <a:lvl9pPr indent="1828800" latinLnBrk="0">
      <a:defRPr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08666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00473C-FF68-A426-D7B3-2D0EDCA99D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280930-432B-D676-E8AA-6CDCA3CA5D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4C1AFF4-DC3A-ED81-6CDA-949AE20B9E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560198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457200" y="92074"/>
            <a:ext cx="8229600" cy="150812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825672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 defTabSz="914400">
              <a:defRPr sz="1200">
                <a:solidFill>
                  <a:srgbClr val="898989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45720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91440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137160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182880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1.emf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emf"/><Relationship Id="rId4" Type="http://schemas.openxmlformats.org/officeDocument/2006/relationships/hyperlink" Target="mailto:geral@navalportyards.com" TargetMode="External"/><Relationship Id="rId9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geral@navalportyards.com" TargetMode="External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2C6350B4-20B7-26A8-1315-B1A93EB84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85842"/>
            <a:ext cx="9143999" cy="1448920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C64779D0-6A06-C5AC-F503-F0A65D3A3F9D}"/>
              </a:ext>
            </a:extLst>
          </p:cNvPr>
          <p:cNvSpPr txBox="1"/>
          <p:nvPr/>
        </p:nvSpPr>
        <p:spPr>
          <a:xfrm>
            <a:off x="156411" y="5490124"/>
            <a:ext cx="6027821" cy="12772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700" dirty="0">
                <a:solidFill>
                  <a:schemeClr val="bg1"/>
                </a:solidFill>
              </a:rPr>
              <a:t>ESTALEIRO PORTUGAL CENTRO</a:t>
            </a:r>
          </a:p>
          <a:p>
            <a:r>
              <a:rPr lang="es-ES" sz="700" dirty="0">
                <a:solidFill>
                  <a:schemeClr val="bg1"/>
                </a:solidFill>
              </a:rPr>
              <a:t> </a:t>
            </a:r>
            <a:r>
              <a:rPr lang="es-ES" sz="700" dirty="0" err="1">
                <a:solidFill>
                  <a:schemeClr val="bg1"/>
                </a:solidFill>
              </a:rPr>
              <a:t>Almargem</a:t>
            </a:r>
            <a:r>
              <a:rPr lang="es-ES" sz="700" dirty="0">
                <a:solidFill>
                  <a:schemeClr val="bg1"/>
                </a:solidFill>
              </a:rPr>
              <a:t> 205-2590 Sobral de Monte </a:t>
            </a:r>
            <a:r>
              <a:rPr lang="es-ES" sz="700" dirty="0" err="1">
                <a:solidFill>
                  <a:schemeClr val="bg1"/>
                </a:solidFill>
              </a:rPr>
              <a:t>Agraço</a:t>
            </a:r>
            <a:r>
              <a:rPr lang="es-ES" sz="700" dirty="0">
                <a:solidFill>
                  <a:schemeClr val="bg1"/>
                </a:solidFill>
              </a:rPr>
              <a:t> I Tel. +351 261 940 030 Fax +351 261940 038 I Email: </a:t>
            </a:r>
            <a:r>
              <a:rPr lang="es-ES" sz="700" dirty="0">
                <a:solidFill>
                  <a:schemeClr val="bg1"/>
                </a:solidFill>
                <a:hlinkClick r:id="rId4"/>
              </a:rPr>
              <a:t>geral@navalportyards.com</a:t>
            </a:r>
            <a:endParaRPr lang="es-ES" sz="700" dirty="0">
              <a:solidFill>
                <a:schemeClr val="bg1"/>
              </a:solidFill>
            </a:endParaRPr>
          </a:p>
          <a:p>
            <a:endParaRPr lang="es-ES" sz="700" dirty="0">
              <a:solidFill>
                <a:schemeClr val="bg1"/>
              </a:solidFill>
            </a:endParaRPr>
          </a:p>
          <a:p>
            <a:r>
              <a:rPr lang="es-ES" sz="700" dirty="0">
                <a:solidFill>
                  <a:schemeClr val="bg1"/>
                </a:solidFill>
              </a:rPr>
              <a:t>ESTALEIRO PORTUGAL NORTE</a:t>
            </a:r>
          </a:p>
          <a:p>
            <a:r>
              <a:rPr lang="es-ES" sz="700" dirty="0">
                <a:solidFill>
                  <a:schemeClr val="bg1"/>
                </a:solidFill>
              </a:rPr>
              <a:t> Parque Empresarial da Praia Norte 4900-568 Viana do Castelo (Portugal) I Tele.: +351 258 940 600 I Email: </a:t>
            </a:r>
            <a:r>
              <a:rPr lang="es-ES" sz="700" dirty="0" err="1">
                <a:solidFill>
                  <a:schemeClr val="bg1"/>
                </a:solidFill>
              </a:rPr>
              <a:t>comercial@navalportyards.com</a:t>
            </a:r>
            <a:endParaRPr lang="es-ES" sz="700" dirty="0">
              <a:solidFill>
                <a:schemeClr val="bg1"/>
              </a:solidFill>
            </a:endParaRPr>
          </a:p>
          <a:p>
            <a:endParaRPr lang="es-ES" sz="700" dirty="0">
              <a:solidFill>
                <a:schemeClr val="bg1"/>
              </a:solidFill>
            </a:endParaRPr>
          </a:p>
          <a:p>
            <a:r>
              <a:rPr lang="es-ES" sz="700" dirty="0">
                <a:solidFill>
                  <a:schemeClr val="bg1"/>
                </a:solidFill>
              </a:rPr>
              <a:t>ESTALEIRO ESPANHA</a:t>
            </a:r>
          </a:p>
          <a:p>
            <a:r>
              <a:rPr lang="es-ES" sz="700" dirty="0">
                <a:solidFill>
                  <a:schemeClr val="bg1"/>
                </a:solidFill>
              </a:rPr>
              <a:t> EMU – C/ Puerto Rico nº10 Bajo – A Guarda – Pontevedra (España) – Email: </a:t>
            </a:r>
            <a:r>
              <a:rPr lang="es-ES" sz="700" dirty="0" err="1">
                <a:solidFill>
                  <a:schemeClr val="bg1"/>
                </a:solidFill>
              </a:rPr>
              <a:t>comercial@emurbano.com</a:t>
            </a:r>
            <a:endParaRPr lang="es-ES" sz="700" dirty="0">
              <a:solidFill>
                <a:schemeClr val="bg1"/>
              </a:solidFill>
            </a:endParaRPr>
          </a:p>
          <a:p>
            <a:endParaRPr lang="es-ES" sz="700" dirty="0">
              <a:solidFill>
                <a:schemeClr val="bg1"/>
              </a:solidFill>
            </a:endParaRPr>
          </a:p>
          <a:p>
            <a:r>
              <a:rPr lang="es-ES" sz="700" dirty="0">
                <a:solidFill>
                  <a:schemeClr val="bg1"/>
                </a:solidFill>
              </a:rPr>
              <a:t>ESTALEIRO MARROCOS</a:t>
            </a:r>
          </a:p>
          <a:p>
            <a:r>
              <a:rPr lang="es-ES" sz="700" dirty="0">
                <a:solidFill>
                  <a:schemeClr val="bg1"/>
                </a:solidFill>
              </a:rPr>
              <a:t> Alliance </a:t>
            </a:r>
            <a:r>
              <a:rPr lang="es-ES" sz="700" dirty="0" err="1">
                <a:solidFill>
                  <a:schemeClr val="bg1"/>
                </a:solidFill>
              </a:rPr>
              <a:t>Searib´s</a:t>
            </a:r>
            <a:r>
              <a:rPr lang="es-ES" sz="700" dirty="0">
                <a:solidFill>
                  <a:schemeClr val="bg1"/>
                </a:solidFill>
              </a:rPr>
              <a:t> </a:t>
            </a:r>
            <a:r>
              <a:rPr lang="es-ES" sz="700" dirty="0" err="1">
                <a:solidFill>
                  <a:schemeClr val="bg1"/>
                </a:solidFill>
              </a:rPr>
              <a:t>Sarl</a:t>
            </a:r>
            <a:r>
              <a:rPr lang="es-ES" sz="700" dirty="0">
                <a:solidFill>
                  <a:schemeClr val="bg1"/>
                </a:solidFill>
              </a:rPr>
              <a:t> – </a:t>
            </a:r>
            <a:r>
              <a:rPr lang="es-ES" sz="700" dirty="0" err="1">
                <a:solidFill>
                  <a:schemeClr val="bg1"/>
                </a:solidFill>
              </a:rPr>
              <a:t>Zone</a:t>
            </a:r>
            <a:r>
              <a:rPr lang="es-ES" sz="700" dirty="0">
                <a:solidFill>
                  <a:schemeClr val="bg1"/>
                </a:solidFill>
              </a:rPr>
              <a:t> </a:t>
            </a:r>
            <a:r>
              <a:rPr lang="es-ES" sz="700" dirty="0" err="1">
                <a:solidFill>
                  <a:schemeClr val="bg1"/>
                </a:solidFill>
              </a:rPr>
              <a:t>Triangle</a:t>
            </a:r>
            <a:r>
              <a:rPr lang="es-ES" sz="700" dirty="0">
                <a:solidFill>
                  <a:schemeClr val="bg1"/>
                </a:solidFill>
              </a:rPr>
              <a:t> de </a:t>
            </a:r>
            <a:r>
              <a:rPr lang="es-ES" sz="700" dirty="0" err="1">
                <a:solidFill>
                  <a:schemeClr val="bg1"/>
                </a:solidFill>
              </a:rPr>
              <a:t>Pêche</a:t>
            </a:r>
            <a:r>
              <a:rPr lang="es-ES" sz="700" dirty="0">
                <a:solidFill>
                  <a:schemeClr val="bg1"/>
                </a:solidFill>
              </a:rPr>
              <a:t> – Nouveau </a:t>
            </a:r>
            <a:r>
              <a:rPr lang="es-ES" sz="700" dirty="0" err="1">
                <a:solidFill>
                  <a:schemeClr val="bg1"/>
                </a:solidFill>
              </a:rPr>
              <a:t>port</a:t>
            </a:r>
            <a:r>
              <a:rPr lang="es-ES" sz="700" dirty="0">
                <a:solidFill>
                  <a:schemeClr val="bg1"/>
                </a:solidFill>
              </a:rPr>
              <a:t> BP299 – Agadir (</a:t>
            </a:r>
            <a:r>
              <a:rPr lang="es-ES" sz="700" dirty="0" err="1">
                <a:solidFill>
                  <a:schemeClr val="bg1"/>
                </a:solidFill>
              </a:rPr>
              <a:t>Maroc</a:t>
            </a:r>
            <a:r>
              <a:rPr lang="es-ES" sz="700" dirty="0">
                <a:solidFill>
                  <a:schemeClr val="bg1"/>
                </a:solidFill>
              </a:rPr>
              <a:t>) Email: </a:t>
            </a:r>
            <a:r>
              <a:rPr lang="es-ES" sz="700" dirty="0" err="1">
                <a:solidFill>
                  <a:schemeClr val="bg1"/>
                </a:solidFill>
              </a:rPr>
              <a:t>alliance.searibs@seribs.com</a:t>
            </a:r>
            <a:endParaRPr lang="es-ES" sz="700" dirty="0">
              <a:solidFill>
                <a:schemeClr val="bg1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D7AACE2-6ABE-D6B8-1297-DB9CA7C312B3}"/>
              </a:ext>
            </a:extLst>
          </p:cNvPr>
          <p:cNvSpPr txBox="1"/>
          <p:nvPr/>
        </p:nvSpPr>
        <p:spPr>
          <a:xfrm>
            <a:off x="7928811" y="-97525"/>
            <a:ext cx="1097682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6000" b="1" dirty="0">
                <a:solidFill>
                  <a:srgbClr val="C00000"/>
                </a:solidFill>
              </a:rPr>
              <a:t>SR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3372490-BDB7-6A20-582F-1957E83C79D8}"/>
              </a:ext>
            </a:extLst>
          </p:cNvPr>
          <p:cNvSpPr txBox="1"/>
          <p:nvPr/>
        </p:nvSpPr>
        <p:spPr>
          <a:xfrm>
            <a:off x="6980663" y="717335"/>
            <a:ext cx="2386364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800" b="1" dirty="0">
                <a:solidFill>
                  <a:schemeClr val="tx1"/>
                </a:solidFill>
              </a:rPr>
              <a:t>650</a:t>
            </a:r>
            <a:r>
              <a:rPr lang="es-ES" sz="2800" b="1" dirty="0">
                <a:solidFill>
                  <a:srgbClr val="C00000"/>
                </a:solidFill>
              </a:rPr>
              <a:t> PATROL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3AB998C-1E30-85FB-7E2D-63755F2A0C65}"/>
              </a:ext>
            </a:extLst>
          </p:cNvPr>
          <p:cNvSpPr txBox="1"/>
          <p:nvPr/>
        </p:nvSpPr>
        <p:spPr>
          <a:xfrm>
            <a:off x="6536101" y="1291947"/>
            <a:ext cx="4503606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1200" b="1" dirty="0">
                <a:solidFill>
                  <a:srgbClr val="C00000"/>
                </a:solidFill>
              </a:rPr>
              <a:t>SPÉCIFICATIONS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AEFC7AA4-C81A-16DC-250A-11D4F7383990}"/>
              </a:ext>
            </a:extLst>
          </p:cNvPr>
          <p:cNvSpPr txBox="1"/>
          <p:nvPr/>
        </p:nvSpPr>
        <p:spPr>
          <a:xfrm>
            <a:off x="6538830" y="1620338"/>
            <a:ext cx="5519852" cy="31700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pt-PT" sz="1000" b="1" dirty="0"/>
              <a:t>Comprimento 			</a:t>
            </a:r>
            <a:r>
              <a:rPr lang="pt-PT" sz="1000" dirty="0"/>
              <a:t>6,50m</a:t>
            </a:r>
          </a:p>
          <a:p>
            <a:r>
              <a:rPr lang="pt-PT" sz="1000" b="1" dirty="0"/>
              <a:t>Boca				</a:t>
            </a:r>
            <a:r>
              <a:rPr lang="pt-PT" sz="1000" dirty="0"/>
              <a:t>2,50m</a:t>
            </a:r>
          </a:p>
          <a:p>
            <a:r>
              <a:rPr lang="pt-PT" sz="1000" b="1" dirty="0"/>
              <a:t>Diâmetro Flutuador		</a:t>
            </a:r>
            <a:r>
              <a:rPr lang="pt-PT" sz="1000" dirty="0"/>
              <a:t>0,53m</a:t>
            </a:r>
          </a:p>
          <a:p>
            <a:r>
              <a:rPr lang="pt-PT" sz="1000" b="1" dirty="0"/>
              <a:t>Tripulação			</a:t>
            </a:r>
            <a:r>
              <a:rPr lang="pt-PT" sz="1000" dirty="0"/>
              <a:t>2</a:t>
            </a:r>
          </a:p>
          <a:p>
            <a:r>
              <a:rPr lang="pt-PT" sz="1000" b="1" dirty="0"/>
              <a:t>Passageiros			</a:t>
            </a:r>
            <a:r>
              <a:rPr lang="pt-PT" sz="1000" dirty="0"/>
              <a:t>10</a:t>
            </a:r>
          </a:p>
          <a:p>
            <a:r>
              <a:rPr lang="pt-PT" sz="1000" b="1" dirty="0"/>
              <a:t>Carga Máxima			</a:t>
            </a:r>
            <a:r>
              <a:rPr lang="pt-PT" sz="1000" dirty="0"/>
              <a:t>2000kg</a:t>
            </a:r>
          </a:p>
          <a:p>
            <a:r>
              <a:rPr lang="pt-PT" sz="1000" b="1" dirty="0"/>
              <a:t>Potência Máxima		</a:t>
            </a:r>
            <a:r>
              <a:rPr lang="pt-PT" sz="1000" dirty="0"/>
              <a:t>250hp</a:t>
            </a:r>
          </a:p>
          <a:p>
            <a:r>
              <a:rPr lang="pt-PT" sz="1000" b="1" dirty="0"/>
              <a:t>Potência instalada		</a:t>
            </a:r>
            <a:r>
              <a:rPr lang="pt-PT" sz="1000" dirty="0"/>
              <a:t>200hp</a:t>
            </a:r>
          </a:p>
          <a:p>
            <a:r>
              <a:rPr lang="pt-PT" sz="1000" b="1" dirty="0"/>
              <a:t>Velocidade Máxima		</a:t>
            </a:r>
            <a:r>
              <a:rPr lang="pt-PT" sz="1000" dirty="0"/>
              <a:t>&gt;40MN</a:t>
            </a:r>
          </a:p>
          <a:p>
            <a:endParaRPr lang="pt-PT" sz="1000" dirty="0"/>
          </a:p>
          <a:p>
            <a:endParaRPr lang="pt-PT" sz="1000" dirty="0"/>
          </a:p>
          <a:p>
            <a:r>
              <a:rPr lang="pt-PT" sz="1000" b="1" dirty="0">
                <a:solidFill>
                  <a:srgbClr val="C00000"/>
                </a:solidFill>
              </a:rPr>
              <a:t>MATERIALES</a:t>
            </a:r>
          </a:p>
          <a:p>
            <a:endParaRPr lang="es-ES" sz="1000" dirty="0"/>
          </a:p>
          <a:p>
            <a:r>
              <a:rPr lang="es-ES" sz="1000" dirty="0"/>
              <a:t>Composite, resinas e fibras da </a:t>
            </a:r>
            <a:r>
              <a:rPr lang="es-ES" sz="1000" dirty="0" err="1"/>
              <a:t>mais</a:t>
            </a:r>
            <a:r>
              <a:rPr lang="es-ES" sz="1000" dirty="0"/>
              <a:t> alta </a:t>
            </a:r>
          </a:p>
          <a:p>
            <a:r>
              <a:rPr lang="es-ES" sz="1000" dirty="0" err="1"/>
              <a:t>cualidade</a:t>
            </a:r>
            <a:r>
              <a:rPr lang="es-ES" sz="1000" dirty="0"/>
              <a:t> naval, </a:t>
            </a:r>
          </a:p>
          <a:p>
            <a:endParaRPr lang="es-ES" sz="1000" dirty="0"/>
          </a:p>
          <a:p>
            <a:r>
              <a:rPr lang="es-ES" sz="1000" b="1" dirty="0">
                <a:solidFill>
                  <a:srgbClr val="C00000"/>
                </a:solidFill>
              </a:rPr>
              <a:t>FLUTUADORES</a:t>
            </a:r>
          </a:p>
          <a:p>
            <a:endParaRPr lang="es-ES" sz="1000" b="1" dirty="0">
              <a:solidFill>
                <a:srgbClr val="C00000"/>
              </a:solidFill>
            </a:endParaRPr>
          </a:p>
          <a:p>
            <a:r>
              <a:rPr lang="es-ES" sz="1000" dirty="0" err="1">
                <a:solidFill>
                  <a:schemeClr val="tx1"/>
                </a:solidFill>
              </a:rPr>
              <a:t>Flutuador</a:t>
            </a:r>
            <a:r>
              <a:rPr lang="es-ES" sz="1000" dirty="0">
                <a:solidFill>
                  <a:schemeClr val="tx1"/>
                </a:solidFill>
              </a:rPr>
              <a:t> </a:t>
            </a:r>
            <a:r>
              <a:rPr lang="es-ES" sz="1000" dirty="0" err="1">
                <a:solidFill>
                  <a:schemeClr val="tx1"/>
                </a:solidFill>
              </a:rPr>
              <a:t>Hypalon</a:t>
            </a:r>
            <a:r>
              <a:rPr lang="es-ES" sz="1000" dirty="0">
                <a:solidFill>
                  <a:schemeClr val="tx1"/>
                </a:solidFill>
              </a:rPr>
              <a:t>/Neopreno.</a:t>
            </a:r>
          </a:p>
          <a:p>
            <a:endParaRPr lang="es-ES" sz="1000" dirty="0">
              <a:solidFill>
                <a:schemeClr val="tx1"/>
              </a:solidFill>
            </a:endParaRPr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CEC4D271-3666-CF2F-D3C1-063FF99FE2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3929" y="4769501"/>
            <a:ext cx="1308100" cy="482600"/>
          </a:xfrm>
          <a:prstGeom prst="rect">
            <a:avLst/>
          </a:prstGeom>
        </p:spPr>
      </p:pic>
      <p:pic>
        <p:nvPicPr>
          <p:cNvPr id="11" name="Imagen 2">
            <a:extLst>
              <a:ext uri="{FF2B5EF4-FFF2-40B4-BE49-F238E27FC236}">
                <a16:creationId xmlns:a16="http://schemas.microsoft.com/office/drawing/2014/main" id="{148B68FC-39E0-BE12-B4A4-E81002AFF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950" y="1660314"/>
            <a:ext cx="1714500" cy="128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Imagen 4">
            <a:extLst>
              <a:ext uri="{FF2B5EF4-FFF2-40B4-BE49-F238E27FC236}">
                <a16:creationId xmlns:a16="http://schemas.microsoft.com/office/drawing/2014/main" id="{42CDE9C6-5C96-631F-F2E7-6718A9A8E0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20" r="20485"/>
          <a:stretch>
            <a:fillRect/>
          </a:stretch>
        </p:blipFill>
        <p:spPr bwMode="auto">
          <a:xfrm>
            <a:off x="4786313" y="155364"/>
            <a:ext cx="1714500" cy="132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Imagen 6">
            <a:extLst>
              <a:ext uri="{FF2B5EF4-FFF2-40B4-BE49-F238E27FC236}">
                <a16:creationId xmlns:a16="http://schemas.microsoft.com/office/drawing/2014/main" id="{409EBE14-0BDC-E05A-701F-7F4BAEACF9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77" b="31718"/>
          <a:stretch>
            <a:fillRect/>
          </a:stretch>
        </p:blipFill>
        <p:spPr bwMode="auto">
          <a:xfrm>
            <a:off x="0" y="3066839"/>
            <a:ext cx="4683125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Imagen 8">
            <a:extLst>
              <a:ext uri="{FF2B5EF4-FFF2-40B4-BE49-F238E27FC236}">
                <a16:creationId xmlns:a16="http://schemas.microsoft.com/office/drawing/2014/main" id="{E00B62D8-356C-F645-0AF1-B3FB32D4D3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89" t="53549" r="47656" b="16937"/>
          <a:stretch>
            <a:fillRect/>
          </a:stretch>
        </p:blipFill>
        <p:spPr bwMode="auto">
          <a:xfrm>
            <a:off x="0" y="155364"/>
            <a:ext cx="4683125" cy="278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6227997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02F742F-1B82-2B92-AB89-F54DF1D04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85842"/>
            <a:ext cx="9143999" cy="144892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12EEF13-D632-296E-CF01-FAA65197C222}"/>
              </a:ext>
            </a:extLst>
          </p:cNvPr>
          <p:cNvSpPr txBox="1"/>
          <p:nvPr/>
        </p:nvSpPr>
        <p:spPr>
          <a:xfrm>
            <a:off x="156411" y="5490124"/>
            <a:ext cx="6027821" cy="12772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700" dirty="0">
                <a:solidFill>
                  <a:schemeClr val="bg1"/>
                </a:solidFill>
              </a:rPr>
              <a:t>ESTALEIRO PORTUGAL CENTRO</a:t>
            </a:r>
          </a:p>
          <a:p>
            <a:r>
              <a:rPr lang="es-ES" sz="700" dirty="0">
                <a:solidFill>
                  <a:schemeClr val="bg1"/>
                </a:solidFill>
              </a:rPr>
              <a:t> </a:t>
            </a:r>
            <a:r>
              <a:rPr lang="es-ES" sz="700" dirty="0" err="1">
                <a:solidFill>
                  <a:schemeClr val="bg1"/>
                </a:solidFill>
              </a:rPr>
              <a:t>Almargem</a:t>
            </a:r>
            <a:r>
              <a:rPr lang="es-ES" sz="700" dirty="0">
                <a:solidFill>
                  <a:schemeClr val="bg1"/>
                </a:solidFill>
              </a:rPr>
              <a:t> 205-2590 Sobral de Monte </a:t>
            </a:r>
            <a:r>
              <a:rPr lang="es-ES" sz="700" dirty="0" err="1">
                <a:solidFill>
                  <a:schemeClr val="bg1"/>
                </a:solidFill>
              </a:rPr>
              <a:t>Agraço</a:t>
            </a:r>
            <a:r>
              <a:rPr lang="es-ES" sz="700" dirty="0">
                <a:solidFill>
                  <a:schemeClr val="bg1"/>
                </a:solidFill>
              </a:rPr>
              <a:t> I Tel. +351 261 940 030 Fax +351 261940 038 I Email: </a:t>
            </a:r>
            <a:r>
              <a:rPr lang="es-ES" sz="700" dirty="0">
                <a:solidFill>
                  <a:schemeClr val="bg1"/>
                </a:solidFill>
                <a:hlinkClick r:id="rId3"/>
              </a:rPr>
              <a:t>geral@navalportyards.com</a:t>
            </a:r>
            <a:endParaRPr lang="es-ES" sz="700" dirty="0">
              <a:solidFill>
                <a:schemeClr val="bg1"/>
              </a:solidFill>
            </a:endParaRPr>
          </a:p>
          <a:p>
            <a:endParaRPr lang="es-ES" sz="700" dirty="0">
              <a:solidFill>
                <a:schemeClr val="bg1"/>
              </a:solidFill>
            </a:endParaRPr>
          </a:p>
          <a:p>
            <a:r>
              <a:rPr lang="es-ES" sz="700" dirty="0">
                <a:solidFill>
                  <a:schemeClr val="bg1"/>
                </a:solidFill>
              </a:rPr>
              <a:t>ESTALEIRO PORTUGAL NORTE</a:t>
            </a:r>
          </a:p>
          <a:p>
            <a:r>
              <a:rPr lang="es-ES" sz="700" dirty="0">
                <a:solidFill>
                  <a:schemeClr val="bg1"/>
                </a:solidFill>
              </a:rPr>
              <a:t> Parque Empresarial da Praia Norte 4900-568 Viana do Castelo (Portugal) I Tele.: +351 258 940 600 I Email: </a:t>
            </a:r>
            <a:r>
              <a:rPr lang="es-ES" sz="700" dirty="0" err="1">
                <a:solidFill>
                  <a:schemeClr val="bg1"/>
                </a:solidFill>
              </a:rPr>
              <a:t>comercial@navalportyards.com</a:t>
            </a:r>
            <a:endParaRPr lang="es-ES" sz="700" dirty="0">
              <a:solidFill>
                <a:schemeClr val="bg1"/>
              </a:solidFill>
            </a:endParaRPr>
          </a:p>
          <a:p>
            <a:endParaRPr lang="es-ES" sz="700" dirty="0">
              <a:solidFill>
                <a:schemeClr val="bg1"/>
              </a:solidFill>
            </a:endParaRPr>
          </a:p>
          <a:p>
            <a:r>
              <a:rPr lang="es-ES" sz="700" dirty="0">
                <a:solidFill>
                  <a:schemeClr val="bg1"/>
                </a:solidFill>
              </a:rPr>
              <a:t>ESTALEIRO ESPANHA</a:t>
            </a:r>
          </a:p>
          <a:p>
            <a:r>
              <a:rPr lang="es-ES" sz="700" dirty="0">
                <a:solidFill>
                  <a:schemeClr val="bg1"/>
                </a:solidFill>
              </a:rPr>
              <a:t> EMU – C/ Puerto Rico nº10 Bajo – A Guarda – Pontevedra (España) – Email: </a:t>
            </a:r>
            <a:r>
              <a:rPr lang="es-ES" sz="700" dirty="0" err="1">
                <a:solidFill>
                  <a:schemeClr val="bg1"/>
                </a:solidFill>
              </a:rPr>
              <a:t>comercial@emurbano.com</a:t>
            </a:r>
            <a:endParaRPr lang="es-ES" sz="700" dirty="0">
              <a:solidFill>
                <a:schemeClr val="bg1"/>
              </a:solidFill>
            </a:endParaRPr>
          </a:p>
          <a:p>
            <a:endParaRPr lang="es-ES" sz="700" dirty="0">
              <a:solidFill>
                <a:schemeClr val="bg1"/>
              </a:solidFill>
            </a:endParaRPr>
          </a:p>
          <a:p>
            <a:r>
              <a:rPr lang="es-ES" sz="700" dirty="0">
                <a:solidFill>
                  <a:schemeClr val="bg1"/>
                </a:solidFill>
              </a:rPr>
              <a:t>ESTALEIRO MARROCOS</a:t>
            </a:r>
          </a:p>
          <a:p>
            <a:r>
              <a:rPr lang="es-ES" sz="700" dirty="0">
                <a:solidFill>
                  <a:schemeClr val="bg1"/>
                </a:solidFill>
              </a:rPr>
              <a:t> Alliance </a:t>
            </a:r>
            <a:r>
              <a:rPr lang="es-ES" sz="700" dirty="0" err="1">
                <a:solidFill>
                  <a:schemeClr val="bg1"/>
                </a:solidFill>
              </a:rPr>
              <a:t>Searib´s</a:t>
            </a:r>
            <a:r>
              <a:rPr lang="es-ES" sz="700" dirty="0">
                <a:solidFill>
                  <a:schemeClr val="bg1"/>
                </a:solidFill>
              </a:rPr>
              <a:t> </a:t>
            </a:r>
            <a:r>
              <a:rPr lang="es-ES" sz="700" dirty="0" err="1">
                <a:solidFill>
                  <a:schemeClr val="bg1"/>
                </a:solidFill>
              </a:rPr>
              <a:t>Sarl</a:t>
            </a:r>
            <a:r>
              <a:rPr lang="es-ES" sz="700" dirty="0">
                <a:solidFill>
                  <a:schemeClr val="bg1"/>
                </a:solidFill>
              </a:rPr>
              <a:t> – </a:t>
            </a:r>
            <a:r>
              <a:rPr lang="es-ES" sz="700" dirty="0" err="1">
                <a:solidFill>
                  <a:schemeClr val="bg1"/>
                </a:solidFill>
              </a:rPr>
              <a:t>Zone</a:t>
            </a:r>
            <a:r>
              <a:rPr lang="es-ES" sz="700" dirty="0">
                <a:solidFill>
                  <a:schemeClr val="bg1"/>
                </a:solidFill>
              </a:rPr>
              <a:t> </a:t>
            </a:r>
            <a:r>
              <a:rPr lang="es-ES" sz="700" dirty="0" err="1">
                <a:solidFill>
                  <a:schemeClr val="bg1"/>
                </a:solidFill>
              </a:rPr>
              <a:t>Triangle</a:t>
            </a:r>
            <a:r>
              <a:rPr lang="es-ES" sz="700" dirty="0">
                <a:solidFill>
                  <a:schemeClr val="bg1"/>
                </a:solidFill>
              </a:rPr>
              <a:t> de </a:t>
            </a:r>
            <a:r>
              <a:rPr lang="es-ES" sz="700" dirty="0" err="1">
                <a:solidFill>
                  <a:schemeClr val="bg1"/>
                </a:solidFill>
              </a:rPr>
              <a:t>Pêche</a:t>
            </a:r>
            <a:r>
              <a:rPr lang="es-ES" sz="700" dirty="0">
                <a:solidFill>
                  <a:schemeClr val="bg1"/>
                </a:solidFill>
              </a:rPr>
              <a:t> – Nouveau </a:t>
            </a:r>
            <a:r>
              <a:rPr lang="es-ES" sz="700" dirty="0" err="1">
                <a:solidFill>
                  <a:schemeClr val="bg1"/>
                </a:solidFill>
              </a:rPr>
              <a:t>port</a:t>
            </a:r>
            <a:r>
              <a:rPr lang="es-ES" sz="700" dirty="0">
                <a:solidFill>
                  <a:schemeClr val="bg1"/>
                </a:solidFill>
              </a:rPr>
              <a:t> BP299 – Agadir (</a:t>
            </a:r>
            <a:r>
              <a:rPr lang="es-ES" sz="700" dirty="0" err="1">
                <a:solidFill>
                  <a:schemeClr val="bg1"/>
                </a:solidFill>
              </a:rPr>
              <a:t>Maroc</a:t>
            </a:r>
            <a:r>
              <a:rPr lang="es-ES" sz="700" dirty="0">
                <a:solidFill>
                  <a:schemeClr val="bg1"/>
                </a:solidFill>
              </a:rPr>
              <a:t>) Email: </a:t>
            </a:r>
            <a:r>
              <a:rPr lang="es-ES" sz="700" dirty="0" err="1">
                <a:solidFill>
                  <a:schemeClr val="bg1"/>
                </a:solidFill>
              </a:rPr>
              <a:t>alliance.searibs@seribs.com</a:t>
            </a:r>
            <a:endParaRPr lang="es-ES" sz="700" dirty="0">
              <a:solidFill>
                <a:schemeClr val="bg1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F66B6E1-32EB-F355-08E3-0AD1267301B0}"/>
              </a:ext>
            </a:extLst>
          </p:cNvPr>
          <p:cNvSpPr txBox="1"/>
          <p:nvPr/>
        </p:nvSpPr>
        <p:spPr>
          <a:xfrm>
            <a:off x="156411" y="23238"/>
            <a:ext cx="1097682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6000" b="1" dirty="0">
                <a:solidFill>
                  <a:srgbClr val="C00000"/>
                </a:solidFill>
              </a:rPr>
              <a:t>SR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F93A638-33DE-A273-B592-F7229C302C3A}"/>
              </a:ext>
            </a:extLst>
          </p:cNvPr>
          <p:cNvSpPr txBox="1"/>
          <p:nvPr/>
        </p:nvSpPr>
        <p:spPr>
          <a:xfrm>
            <a:off x="1254093" y="392049"/>
            <a:ext cx="2386364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800" b="1" dirty="0">
                <a:solidFill>
                  <a:schemeClr val="tx1"/>
                </a:solidFill>
              </a:rPr>
              <a:t>650</a:t>
            </a:r>
            <a:r>
              <a:rPr lang="es-ES" sz="2800" b="1" dirty="0">
                <a:solidFill>
                  <a:srgbClr val="C00000"/>
                </a:solidFill>
              </a:rPr>
              <a:t> PATROL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90AB8EC-111B-D8A9-243D-E6276FBCA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3384" y="4715417"/>
            <a:ext cx="1308100" cy="4826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70F2D00-1111-3CDD-C824-C1FC3C73131D}"/>
              </a:ext>
            </a:extLst>
          </p:cNvPr>
          <p:cNvSpPr txBox="1"/>
          <p:nvPr/>
        </p:nvSpPr>
        <p:spPr>
          <a:xfrm>
            <a:off x="156411" y="1038380"/>
            <a:ext cx="4677936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1800" b="1" dirty="0">
                <a:solidFill>
                  <a:srgbClr val="C00000"/>
                </a:solidFill>
              </a:rPr>
              <a:t>EQUIPAMENTOS INCLUIDOS</a:t>
            </a:r>
          </a:p>
          <a:p>
            <a:endParaRPr lang="es-ES" dirty="0"/>
          </a:p>
        </p:txBody>
      </p:sp>
      <p:sp>
        <p:nvSpPr>
          <p:cNvPr id="16" name="Rectângulo 5">
            <a:extLst>
              <a:ext uri="{FF2B5EF4-FFF2-40B4-BE49-F238E27FC236}">
                <a16:creationId xmlns:a16="http://schemas.microsoft.com/office/drawing/2014/main" id="{BAEC40DD-0F7E-F46E-9224-7FA1DC986775}"/>
              </a:ext>
            </a:extLst>
          </p:cNvPr>
          <p:cNvSpPr/>
          <p:nvPr/>
        </p:nvSpPr>
        <p:spPr>
          <a:xfrm>
            <a:off x="234321" y="1407712"/>
            <a:ext cx="8675355" cy="316448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numCol="2" rtlCol="0" anchor="t" anchorCtr="0"/>
          <a:lstStyle/>
          <a:p>
            <a:r>
              <a:rPr lang="pt-PT" sz="1000" dirty="0"/>
              <a:t>1x SR650 </a:t>
            </a:r>
            <a:r>
              <a:rPr lang="pt-PT" sz="1000" dirty="0" err="1"/>
              <a:t>Patrol</a:t>
            </a:r>
            <a:endParaRPr lang="pt-PT" sz="1000" dirty="0"/>
          </a:p>
          <a:p>
            <a:r>
              <a:rPr lang="pt-PT" sz="1000" dirty="0"/>
              <a:t>1x Consola 860</a:t>
            </a:r>
          </a:p>
          <a:p>
            <a:r>
              <a:rPr lang="pt-PT" sz="1000" dirty="0"/>
              <a:t>1x Depósitos de combustível 200L</a:t>
            </a:r>
          </a:p>
          <a:p>
            <a:r>
              <a:rPr lang="pt-PT" sz="1000" dirty="0"/>
              <a:t>1x Hard-Top+ suporte de antenas luzes de navegação e outros</a:t>
            </a:r>
          </a:p>
          <a:p>
            <a:r>
              <a:rPr lang="pt-PT" sz="1000" dirty="0"/>
              <a:t>1x Flutuador em </a:t>
            </a:r>
            <a:r>
              <a:rPr lang="pt-PT" sz="1000" dirty="0" err="1"/>
              <a:t>Hypalon</a:t>
            </a:r>
            <a:r>
              <a:rPr lang="pt-PT" sz="1000" dirty="0"/>
              <a:t>/neopreno</a:t>
            </a:r>
          </a:p>
          <a:p>
            <a:r>
              <a:rPr lang="pt-PT" sz="1000" dirty="0"/>
              <a:t>1x Bancos </a:t>
            </a:r>
            <a:r>
              <a:rPr lang="pt-PT" sz="1000" dirty="0" err="1"/>
              <a:t>Ullman</a:t>
            </a:r>
            <a:r>
              <a:rPr lang="pt-PT" sz="1000" dirty="0"/>
              <a:t> </a:t>
            </a:r>
            <a:r>
              <a:rPr lang="pt-PT" sz="1000" dirty="0" err="1"/>
              <a:t>Vizcaya</a:t>
            </a:r>
            <a:r>
              <a:rPr lang="pt-PT" sz="1000" dirty="0"/>
              <a:t> + 2 bancos Jockey</a:t>
            </a:r>
          </a:p>
          <a:p>
            <a:r>
              <a:rPr lang="pt-PT" sz="1000" dirty="0"/>
              <a:t>1x Bita de proa PRO</a:t>
            </a:r>
          </a:p>
          <a:p>
            <a:r>
              <a:rPr lang="pt-PT" sz="1000" dirty="0"/>
              <a:t>1x Loca de proa para arrumo de cabos e outros</a:t>
            </a:r>
          </a:p>
          <a:p>
            <a:r>
              <a:rPr lang="pt-PT" sz="1000" dirty="0"/>
              <a:t>1x Proteção lateral nos flutuadores</a:t>
            </a:r>
          </a:p>
          <a:p>
            <a:r>
              <a:rPr lang="pt-PT" sz="1000" dirty="0"/>
              <a:t>4x Pontos de suspensão PRO</a:t>
            </a:r>
          </a:p>
          <a:p>
            <a:r>
              <a:rPr lang="pt-PT" sz="1000" dirty="0"/>
              <a:t>1x Palamenta completa</a:t>
            </a:r>
          </a:p>
          <a:p>
            <a:r>
              <a:rPr lang="pt-PT" sz="1000" dirty="0"/>
              <a:t>1x Projetor de busca manual</a:t>
            </a:r>
          </a:p>
          <a:p>
            <a:r>
              <a:rPr lang="pt-PT" sz="1000" dirty="0"/>
              <a:t>1x </a:t>
            </a:r>
            <a:r>
              <a:rPr lang="pt-PT" sz="1000" dirty="0" err="1"/>
              <a:t>Multifuncions</a:t>
            </a:r>
            <a:r>
              <a:rPr lang="pt-PT" sz="1000" dirty="0"/>
              <a:t> </a:t>
            </a:r>
            <a:r>
              <a:rPr lang="pt-PT" sz="1000" dirty="0" err="1"/>
              <a:t>Raymarine</a:t>
            </a:r>
            <a:r>
              <a:rPr lang="pt-PT" sz="1000" dirty="0"/>
              <a:t> 10” (ou similar)</a:t>
            </a:r>
          </a:p>
          <a:p>
            <a:r>
              <a:rPr lang="pt-PT" sz="1000" dirty="0"/>
              <a:t>1x bussola Ritchie (ou similar)</a:t>
            </a:r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r>
              <a:rPr lang="pt-PT" sz="1000" dirty="0"/>
              <a:t>1x Radar/</a:t>
            </a:r>
            <a:r>
              <a:rPr lang="pt-PT" sz="1000" dirty="0" err="1"/>
              <a:t>Gps</a:t>
            </a:r>
            <a:r>
              <a:rPr lang="pt-PT" sz="1000" dirty="0"/>
              <a:t>/</a:t>
            </a:r>
            <a:r>
              <a:rPr lang="pt-PT" sz="1000" dirty="0" err="1"/>
              <a:t>Plotter</a:t>
            </a:r>
            <a:r>
              <a:rPr lang="pt-PT" sz="1000"/>
              <a:t>/Sonda</a:t>
            </a:r>
            <a:endParaRPr lang="pt-PT" sz="1000" dirty="0"/>
          </a:p>
          <a:p>
            <a:r>
              <a:rPr lang="pt-PT" sz="1000" dirty="0"/>
              <a:t>1x AIS</a:t>
            </a:r>
          </a:p>
          <a:p>
            <a:r>
              <a:rPr lang="pt-PT" sz="1000" dirty="0"/>
              <a:t>1x VHF</a:t>
            </a:r>
          </a:p>
          <a:p>
            <a:r>
              <a:rPr lang="pt-PT" sz="1000" dirty="0"/>
              <a:t>1x Comutador de baterias + </a:t>
            </a:r>
            <a:r>
              <a:rPr lang="pt-PT" sz="1000" dirty="0" err="1"/>
              <a:t>corta-corrente</a:t>
            </a:r>
            <a:endParaRPr lang="pt-PT" sz="1000" dirty="0"/>
          </a:p>
          <a:p>
            <a:r>
              <a:rPr lang="pt-PT" sz="1000" dirty="0"/>
              <a:t>1x Sistema de luzes de policia e sirena com autofalante</a:t>
            </a:r>
          </a:p>
          <a:p>
            <a:r>
              <a:rPr lang="pt-PT" sz="1000" dirty="0"/>
              <a:t>3x Batereis</a:t>
            </a:r>
          </a:p>
          <a:p>
            <a:r>
              <a:rPr lang="pt-PT" sz="1000" dirty="0"/>
              <a:t>1x Motor SUZUKI 200HP (ou similar)</a:t>
            </a:r>
          </a:p>
          <a:p>
            <a:r>
              <a:rPr lang="pt-PT" sz="1000" dirty="0"/>
              <a:t>1x kit de direção hidráulica</a:t>
            </a:r>
          </a:p>
          <a:p>
            <a:r>
              <a:rPr lang="pt-PT" sz="1000" dirty="0"/>
              <a:t>1x Filtro de combustível separador de agua</a:t>
            </a:r>
          </a:p>
          <a:p>
            <a:r>
              <a:rPr lang="pt-PT" sz="1000" dirty="0"/>
              <a:t>1x Projetor LED em popa y proa </a:t>
            </a:r>
          </a:p>
          <a:p>
            <a:r>
              <a:rPr lang="pt-PT" sz="1000" dirty="0"/>
              <a:t>1x Bomba de esgoto automática</a:t>
            </a:r>
          </a:p>
          <a:p>
            <a:r>
              <a:rPr lang="pt-PT" sz="1000" dirty="0"/>
              <a:t>1x Atrelado adequado a embarcação		</a:t>
            </a:r>
          </a:p>
          <a:p>
            <a:endParaRPr lang="pt-PT" sz="1100" dirty="0"/>
          </a:p>
          <a:p>
            <a:r>
              <a:rPr lang="pt-PT" sz="1100" dirty="0"/>
              <a:t>						</a:t>
            </a:r>
          </a:p>
          <a:p>
            <a:endParaRPr lang="pt-PT" sz="1100" dirty="0"/>
          </a:p>
          <a:p>
            <a:endParaRPr lang="pt-PT" sz="1100" dirty="0"/>
          </a:p>
          <a:p>
            <a:endParaRPr lang="pt-PT" sz="1100" dirty="0"/>
          </a:p>
          <a:p>
            <a:r>
              <a:rPr lang="pt-PT" sz="1100" dirty="0"/>
              <a:t>			</a:t>
            </a:r>
          </a:p>
          <a:p>
            <a:r>
              <a:rPr lang="pt-PT" sz="1100" dirty="0"/>
              <a:t>			</a:t>
            </a:r>
            <a:r>
              <a:rPr lang="pt-PT" sz="1200" dirty="0"/>
              <a:t>	</a:t>
            </a:r>
          </a:p>
          <a:p>
            <a:endParaRPr lang="pt-PT" sz="1200" dirty="0"/>
          </a:p>
          <a:p>
            <a:endParaRPr lang="pt-PT" sz="1200" dirty="0"/>
          </a:p>
        </p:txBody>
      </p:sp>
    </p:spTree>
    <p:extLst>
      <p:ext uri="{BB962C8B-B14F-4D97-AF65-F5344CB8AC3E}">
        <p14:creationId xmlns:p14="http://schemas.microsoft.com/office/powerpoint/2010/main" val="206640725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Tema do Office">
  <a:themeElements>
    <a:clrScheme name="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Tema do Offic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Tema do Offic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610</TotalTime>
  <Words>484</Words>
  <Application>Microsoft Macintosh PowerPoint</Application>
  <PresentationFormat>Presentación en pantalla (4:3)</PresentationFormat>
  <Paragraphs>91</Paragraphs>
  <Slides>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Helvetica Neue</vt:lpstr>
      <vt:lpstr>Tema do Office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Mafalda</dc:creator>
  <cp:lastModifiedBy>Microsoft Office User</cp:lastModifiedBy>
  <cp:revision>22</cp:revision>
  <cp:lastPrinted>2026-04-03T21:19:54Z</cp:lastPrinted>
  <dcterms:modified xsi:type="dcterms:W3CDTF">2026-04-03T21:28:03Z</dcterms:modified>
</cp:coreProperties>
</file>